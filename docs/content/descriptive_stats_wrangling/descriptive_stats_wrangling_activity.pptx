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Descriptive Statistics &amp; Wrangling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Summaries and wrangling</a:t>
            </a:r>
            <a:br/>
            <a:br/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 class activity 3: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did we do last time?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Implement data pipeline best practices</a:t>
            </a:r>
          </a:p>
          <a:p>
            <a:pPr lvl="0"/>
            <a:r>
              <a:rPr/>
              <a:t>Apply controlled vocabulary and naming conventions</a:t>
            </a:r>
          </a:p>
          <a:p>
            <a:pPr lvl="0"/>
            <a:r>
              <a:rPr/>
              <a:t>Create effective visualizations</a:t>
            </a:r>
          </a:p>
          <a:p>
            <a:pPr lvl="0"/>
            <a:r>
              <a:rPr/>
              <a:t>Customize plots for publication quality</a:t>
            </a:r>
          </a:p>
          <a:p>
            <a:pPr lvl="0"/>
            <a:r>
              <a:rPr/>
              <a:t>Combine multiple plots into composite figures</a:t>
            </a:r>
          </a:p>
          <a:p>
            <a:pPr lvl="1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(name_df,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(x_variable, y_variable,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categorical_variable))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     dataframe, aesthetics(x and y variables, mapping of color or fill or shape) +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this it the geometry you want and can add more layers like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/>
            <a:r>
              <a:rPr/>
              <a:t>What questions do you have and what is unclear</a:t>
            </a:r>
          </a:p>
          <a:p>
            <a:pPr lvl="0"/>
            <a:r>
              <a:rPr/>
              <a:t>What did not work so far when you started the homework?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Objectives and goals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Today’s Objectives</a:t>
            </a:r>
          </a:p>
          <a:p>
            <a:pPr lvl="0" indent="-342900" marL="342900">
              <a:buAutoNum type="arabicPeriod"/>
            </a:pPr>
            <a:r>
              <a:rPr/>
              <a:t>Implement descriptive statistics in R</a:t>
            </a:r>
          </a:p>
          <a:p>
            <a:pPr lvl="0" indent="-342900" marL="342900">
              <a:buAutoNum type="arabicPeriod"/>
            </a:pPr>
            <a:r>
              <a:rPr/>
              <a:t>Calculate measures of central tendency and spread</a:t>
            </a:r>
          </a:p>
          <a:p>
            <a:pPr lvl="0" indent="-342900" marL="342900">
              <a:buAutoNum type="arabicPeriod"/>
            </a:pPr>
            <a:r>
              <a:rPr/>
              <a:t>Compare distributions of data from different groups</a:t>
            </a:r>
          </a:p>
          <a:p>
            <a:pPr lvl="0" indent="-342900" marL="342900">
              <a:buAutoNum type="arabicPeriod"/>
            </a:pPr>
            <a:r>
              <a:rPr/>
              <a:t>Create effective visualizations of descriptive statistics</a:t>
            </a:r>
          </a:p>
          <a:p>
            <a:pPr lvl="0" indent="-342900" marL="342900">
              <a:buAutoNum type="arabicPeriod"/>
            </a:pPr>
            <a:r>
              <a:rPr/>
              <a:t>Interpret the meaning of these statistics in a biological context</a:t>
            </a:r>
          </a:p>
        </p:txBody>
      </p:sp>
      <p:pic>
        <p:nvPicPr>
          <p:cNvPr descr="images/clipboard-27736545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863600"/>
            <a:ext cx="2781300" cy="405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1: Setting Up Your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First, let’s load the necessary packages and import our data: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required packages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(moments)      </a:t>
            </a:r>
            <a:r>
              <a:rPr>
                <a:solidFill>
                  <a:srgbClr val="5E5E5E"/>
                </a:solidFill>
                <a:latin typeface="Courier"/>
              </a:rPr>
              <a:t># For calculating skewness and kurtosis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(skimr)        </a:t>
            </a:r>
            <a:r>
              <a:rPr>
                <a:solidFill>
                  <a:srgbClr val="5E5E5E"/>
                </a:solidFill>
                <a:latin typeface="Courier"/>
              </a:rPr>
              <a:t># for summary stats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    </a:t>
            </a:r>
            <a:r>
              <a:rPr>
                <a:solidFill>
                  <a:srgbClr val="5E5E5E"/>
                </a:solidFill>
                <a:latin typeface="Courier"/>
              </a:rPr>
              <a:t># For data wrangling and visualization</a:t>
            </a:r>
          </a:p>
          <a:p>
            <a:pPr lvl="0" indent="0">
              <a:buNone/>
            </a:pPr>
            <a:r>
              <a:rPr>
                <a:latin typeface="Courier"/>
              </a:rPr>
              <a:t>── Attaching core tidyverse packages ──────────────────────── tidyverse 2.0.0 ──
✔ dplyr     1.2.1     ✔ readr     2.2.0
✔ forcats   1.0.1     ✔ stringr   1.6.0
✔ ggplot2   4.0.3     ✔ tibble    3.3.1
✔ lubridate 1.9.5     ✔ tidyr     1.3.2
✔ purrr     1.2.2     
── Conflicts ────────────────────────────────────────── tidyverse_conflicts() ──
✖ dplyr::filter() masks stats::filter()
✖ dplyr::lag()    masks stats::lag()
ℹ Use the conflicted package (&lt;http://conflicted.r-lib.org/&gt;) to force all conflicts to become errors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Getting the data</a:t>
            </a:r>
          </a:p>
          <a:p>
            <a:pPr lvl="0" indent="0" marL="1270000">
              <a:buNone/>
            </a:pPr>
            <a:r>
              <a:rPr sz="2000" b="1"/>
              <a:t>Practice Exercise 1: Loading and Examining the Grayling Data</a:t>
            </a:r>
          </a:p>
          <a:p>
            <a:pPr lvl="0" indent="0" marL="1270000">
              <a:buNone/>
            </a:pPr>
            <a:r>
              <a:rPr sz="2000"/>
              <a:t>We’ll be working with data on arctic grayling fish from two different lakes (I3 and I8).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Write your code here to read in the file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How do you examine the data - what are the ways you think and lets try it!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Load the grayling data</a:t>
            </a:r>
            <a:br/>
            <a:r>
              <a:rPr>
                <a:solidFill>
                  <a:srgbClr val="003B4F"/>
                </a:solidFill>
                <a:latin typeface="Courier"/>
              </a:rPr>
              <a:t>g_df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"data/gray_I3_I8.csv"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Rows: 168 Columns: 5
── Column specification ────────────────────────────────────────────────────────
Delimiter: ","
chr (2): lake, species
dbl (3): site, length_mm, mass_g
ℹ Use `spec()` to retrieve the full column specification for this data.
ℹ Specify the column types or set `show_col_types = FALSE` to quiet this message.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View the first few rows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(g_df)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# A tibble: 6 × 5
   site lake  species         length_mm mass_g
  &lt;dbl&gt; &lt;chr&gt; &lt;chr&gt;               &lt;dbl&gt;  &lt;dbl&gt;
1   113 I3    arctic grayling       266    135
2   113 I3    arctic grayling       290    185
3   113 I3    arctic grayling       262    145
4   113 I3    arctic grayling       275    160
5   113 I3    arctic grayling       240    105
6   113 I3    arctic grayling       265    145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Questions to Consider: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What variables are in our dataset?</a:t>
            </a:r>
          </a:p>
          <a:p>
            <a:pPr lvl="0" indent="-342900" marL="342900">
              <a:buAutoNum type="arabicPeriod"/>
            </a:pPr>
            <a:r>
              <a:rPr/>
              <a:t>What are their data types?</a:t>
            </a:r>
          </a:p>
          <a:p>
            <a:pPr lvl="0" indent="-342900" marL="342900">
              <a:buAutoNum type="arabicPeriod"/>
            </a:pPr>
            <a:r>
              <a:rPr/>
              <a:t>How many fish were sampled from each lake?</a:t>
            </a:r>
          </a:p>
          <a:p>
            <a:pPr lvl="0" indent="-342900" marL="342900">
              <a:buAutoNum type="arabicPeriod"/>
            </a:pPr>
            <a:r>
              <a:rPr/>
              <a:t>Are there any missing values?</a:t>
            </a:r>
          </a:p>
          <a:p>
            <a:pPr lvl="0" indent="-342900" marL="342900">
              <a:buAutoNum type="arabicPeriod"/>
            </a:pPr>
            <a:r>
              <a:rPr/>
              <a:t>What is the distribution of data?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Base R way of getting some summary stats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How many fish do we have from each lake?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(g_df) </a:t>
            </a:r>
          </a:p>
          <a:p>
            <a:pPr lvl="0" indent="0">
              <a:buNone/>
            </a:pPr>
            <a:r>
              <a:rPr>
                <a:latin typeface="Courier"/>
              </a:rPr>
              <a:t>      site            lake          species      length_mm         mass_g     
 Min.   :113   Length   :168   Length   :168   Min.   :191.0   Min.   : 53.0  
 1st Qu.:113   N.unique :  2   N.unique :  1   1st Qu.:270.8   1st Qu.:151.2  
 Median :118   N.blank  :  0   N.blank  :  0   Median :324.5   Median :340.0  
 Mean   :116   Min.nchar:  2   Min.nchar: 15   Mean   :324.5   Mean   :351.2  
 3rd Qu.:118   Max.nchar:  2   Max.nchar: 15   3rd Qu.:377.0   3rd Qu.:519.5  
 Max.   :118                                   Max.   :440.0   Max.   :889.0  
                                                               NAs    :2      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Skimnr way of seeing summary stats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g_df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(lake)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skim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657600" y="952500"/>
          <a:ext cx="5232400" cy="3289300"/>
        </p:xfrm>
        <a:graphic>
          <a:graphicData uri="http://schemas.openxmlformats.org/drawingml/2006/table">
            <a:tbl>
              <a:tblPr firstRow="0" bandRow="1">
                <a:tableStyleId>{5C22544A-7EE6-4342-B048-85BDC9FD1C3A}</a:tableStyleId>
              </a:tblPr>
              <a:tblGrid>
                <a:gridCol w="2616200"/>
                <a:gridCol w="2616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Piped data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Number of rows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168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Number of columns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_______________________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Column type frequency: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character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numeric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________________________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Group variables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lake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" name="TextBox 3"/>
          <p:cNvSpPr txBox="1"/>
          <p:nvPr>
            <p:ph idx="1"/>
          </p:nvPr>
        </p:nvSpPr>
        <p:spPr>
          <a:xfrm>
            <a:off x="3657600" y="4241800"/>
            <a:ext cx="5232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Data summary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Variable type: character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657600" y="952500"/>
          <a:ext cx="5232400" cy="3797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2500"/>
                <a:gridCol w="342900"/>
                <a:gridCol w="685800"/>
                <a:gridCol w="952500"/>
                <a:gridCol w="266700"/>
                <a:gridCol w="266700"/>
                <a:gridCol w="406400"/>
                <a:gridCol w="609600"/>
                <a:gridCol w="7493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skim_variable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n_missing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complete_rate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empty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n_unique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whitespace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species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species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Variable type: numeric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657600" y="952500"/>
          <a:ext cx="5232400" cy="3797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5500"/>
                <a:gridCol w="292100"/>
                <a:gridCol w="584200"/>
                <a:gridCol w="825500"/>
                <a:gridCol w="406400"/>
                <a:gridCol w="406400"/>
                <a:gridCol w="241300"/>
                <a:gridCol w="406400"/>
                <a:gridCol w="241300"/>
                <a:gridCol w="355600"/>
                <a:gridCol w="292100"/>
                <a:gridCol w="3556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skim_variable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n_missing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complete_rate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hist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site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113.00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113.00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113.0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▁▁▇▁▁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site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118.00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118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118.00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118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118.0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118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▁▁▇▁▁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length_mm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265.61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28.30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191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256.00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266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280.0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▂▁▇▇▂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length_mm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362.60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52.34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340.00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373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401.0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440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▁▂▃▇▆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mass_g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150.50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42.22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130.75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147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177.5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▂▅▇▃▁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mass_g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0.98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483.71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176.48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369.00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490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615.5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889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▂▃▇▆▂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2: Visualizing Distributions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Visualizations can help us better understand the descriptive statistics we’ve calculated.</a:t>
            </a:r>
          </a:p>
          <a:p>
            <a:pPr lvl="0" indent="0" marL="1270000">
              <a:buNone/>
            </a:pPr>
            <a:r>
              <a:rPr sz="2000" b="1"/>
              <a:t>Exercise 1: Creating Histograms</a:t>
            </a:r>
          </a:p>
          <a:p>
            <a:pPr lvl="0" indent="0" marL="1270000">
              <a:buNone/>
            </a:pPr>
            <a:r>
              <a:rPr sz="2000"/>
              <a:t>One of the best ways to look at data is a histogram - and we will do it again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Create a histogram of all fish lengths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g_df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length_mm))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geom_histogram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binwidth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15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</a:p>
          <a:p>
            <a:pPr lvl="0" indent="0" marL="1270000">
              <a:buNone/>
            </a:pPr>
          </a:p>
          <a:p>
            <a:pPr lvl="0" indent="0" marL="0">
              <a:spcBef>
                <a:spcPts val="3000"/>
              </a:spcBef>
              <a:buNone/>
            </a:pP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Create histograms by lake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g_df 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length_mm,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lake))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geom_histogram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binwidth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"dodge"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0.7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</a:p>
        </p:txBody>
      </p:sp>
      <p:pic>
        <p:nvPicPr>
          <p:cNvPr descr="descriptive_stats_wrangling_activity_files/figure-pptx/unnamed-chunk-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898900" y="952500"/>
            <a:ext cx="4749800" cy="379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Exercise 2: Creating Box Plots</a:t>
            </a:r>
          </a:p>
          <a:p>
            <a:pPr lvl="0" indent="0" marL="1270000">
              <a:buNone/>
            </a:pPr>
            <a:r>
              <a:rPr sz="2000"/>
              <a:t>Personally I like box plots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Create a box plot comparing fish lengths by lake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Create a box plot comparing fish lengths by lake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g_df 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lake,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length_mm,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lake))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</a:p>
          <a:p>
            <a:pPr lvl="0" indent="0" marL="1270000">
              <a:buNone/>
            </a:pPr>
          </a:p>
          <a:p>
            <a:pPr lvl="0" indent="0" marL="0">
              <a:spcBef>
                <a:spcPts val="3000"/>
              </a:spcBef>
              <a:buNone/>
            </a:pPr>
          </a:p>
          <a:p>
            <a:pPr lvl="0" indent="0" marL="1270000">
              <a:buNone/>
            </a:pPr>
            <a:r>
              <a:rPr sz="2000" b="1"/>
              <a:t>Exercise 3: Creating Density Plots</a:t>
            </a:r>
          </a:p>
          <a:p>
            <a:pPr lvl="0" indent="0" marL="1270000">
              <a:buNone/>
            </a:pPr>
            <a:r>
              <a:rPr sz="2000"/>
              <a:t>Now these will be really important later on</a:t>
            </a:r>
          </a:p>
          <a:p>
            <a:pPr lvl="0" indent="0">
              <a:buNone/>
            </a:pPr>
            <a:r>
              <a:rPr i="1">
                <a:solidFill>
                  <a:srgbClr val="5E5E5E"/>
                </a:solidFill>
                <a:latin typeface="Courier"/>
              </a:rPr>
              <a:t>## Create density plots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g_df 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length_mm,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lake))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geom_density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1270000">
              <a:buNone/>
            </a:pPr>
          </a:p>
          <a:p>
            <a:pPr lvl="0" indent="0" marL="0">
              <a:spcBef>
                <a:spcPts val="3000"/>
              </a:spcBef>
              <a:buNone/>
            </a:pP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2: Calculating Descriptive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Let’s calculate various descriptive statistics for our data:</a:t>
            </a:r>
          </a:p>
          <a:p>
            <a:pPr lvl="0" indent="0" marL="0">
              <a:spcBef>
                <a:spcPts val="3000"/>
              </a:spcBef>
              <a:buNone/>
            </a:pPr>
          </a:p>
          <a:p>
            <a:pPr lvl="0" indent="0" marL="1270000">
              <a:buNone/>
            </a:pPr>
            <a:r>
              <a:rPr sz="2000" b="1"/>
              <a:t>Practice Exercise 4: Measures of Central Tendency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Calculate the mean and median fish length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(g_df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length_mm)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[1] 324.494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median</a:t>
            </a:r>
            <a:r>
              <a:rPr>
                <a:solidFill>
                  <a:srgbClr val="003B4F"/>
                </a:solidFill>
                <a:latin typeface="Courier"/>
              </a:rPr>
              <a:t>(g_df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length_mm)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[1] 324.5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Calculate mean and median by lake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g_df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(lake)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(length_mm),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median_length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median</a:t>
            </a:r>
            <a:r>
              <a:rPr>
                <a:solidFill>
                  <a:srgbClr val="003B4F"/>
                </a:solidFill>
                <a:latin typeface="Courier"/>
              </a:rPr>
              <a:t>(length_mm)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3
  lake  mean_length median_length
  &lt;chr&gt;       &lt;dbl&gt;         &lt;dbl&gt;
1 I3           266.           266
2 I8           363.           373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Summarizing data - two ways</a:t>
            </a:r>
          </a:p>
          <a:p>
            <a:pPr lvl="0" indent="0" marL="0">
              <a:buNone/>
            </a:pPr>
            <a:r>
              <a:rPr/>
              <a:t>lets say we want to summarize the data and need to get n, means, standard deviation, standard error</a:t>
            </a:r>
          </a:p>
          <a:p>
            <a:pPr lvl="0" indent="0" marL="0">
              <a:buNone/>
            </a:pPr>
            <a:r>
              <a:rPr/>
              <a:t>We could do the following - if we had missing cells the code below would give an error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(g_df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length_mm) </a:t>
            </a:r>
          </a:p>
          <a:p>
            <a:pPr lvl="0" indent="0">
              <a:buNone/>
            </a:pPr>
            <a:r>
              <a:rPr>
                <a:latin typeface="Courier"/>
              </a:rPr>
              <a:t>[1] 324.494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(g_df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length_mm,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# removes missing values</a:t>
            </a:r>
          </a:p>
          <a:p>
            <a:pPr lvl="0" indent="0">
              <a:buNone/>
            </a:pPr>
            <a:r>
              <a:rPr>
                <a:latin typeface="Courier"/>
              </a:rPr>
              <a:t>[1] 324.494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length</a:t>
            </a:r>
            <a:r>
              <a:rPr>
                <a:solidFill>
                  <a:srgbClr val="003B4F"/>
                </a:solidFill>
                <a:latin typeface="Courier"/>
              </a:rPr>
              <a:t>(g_df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length_mm)</a:t>
            </a:r>
          </a:p>
          <a:p>
            <a:pPr lvl="0" indent="0">
              <a:buNone/>
            </a:pPr>
            <a:r>
              <a:rPr>
                <a:latin typeface="Courier"/>
              </a:rPr>
              <a:t>[1] 168</a:t>
            </a:r>
          </a:p>
          <a:p>
            <a:pPr lvl="0"/>
            <a:r>
              <a:rPr b="1"/>
              <a:t>the length counts missing and non-missing data</a:t>
            </a:r>
          </a:p>
          <a:p>
            <a:pPr lvl="0"/>
            <a:r>
              <a:rPr/>
              <a:t>however this would get old if we had to do this for everything and then to do it for the different groupings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We need to learn to pipe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passes things from the dataframe to a command and so on…</a:t>
            </a:r>
          </a:p>
          <a:p>
            <a:pPr lvl="0"/>
            <a:r>
              <a:rPr/>
              <a:t>the dataframe –&gt; pipe command that feed the dataframe into –&gt; next command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g_df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mean_length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(length_mm,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1 × 1
  mean_length
        &lt;dbl&gt;
1        324.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What is cool is we can do a lot of different things now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g_df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(length_mm,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sd_length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(length_mm,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n_length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n</a:t>
            </a:r>
            <a:r>
              <a:rPr>
                <a:solidFill>
                  <a:srgbClr val="003B4F"/>
                </a:solidFill>
                <a:latin typeface="Courier"/>
              </a:rPr>
              <a:t>())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1 × 3
  mean_length sd_length n_length
        &lt;dbl&gt;     &lt;dbl&gt;    &lt;int&gt;
1        324.      65.0      168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Super cool code in case there are missing values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g_df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(length_mm,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sd_length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(length_mm,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n_length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(length_mm)))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1 × 3
  mean_length sd_length n_length
        &lt;dbl&gt;     &lt;dbl&gt;    &lt;int&gt;
1        324.      65.0      168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Now for Spread…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1270000">
                  <a:buNone/>
                </a:pPr>
                <a:r>
                  <a:rPr sz="2000" b="1"/>
                  <a:t>Practice Exercise 5: Measures of Spread</a:t>
                </a:r>
              </a:p>
              <a:p>
                <a:pPr lvl="0" indent="0">
                  <a:buNone/>
                </a:pPr>
                <a:r>
                  <a:rPr>
                    <a:solidFill>
                      <a:srgbClr val="5E5E5E"/>
                    </a:solidFill>
                    <a:latin typeface="Courier"/>
                  </a:rPr>
                  <a:t># Write your code here to read in the file</a:t>
                </a:r>
                <a:br/>
                <a:r>
                  <a:rPr>
                    <a:solidFill>
                      <a:srgbClr val="5E5E5E"/>
                    </a:solidFill>
                    <a:latin typeface="Courier"/>
                  </a:rPr>
                  <a:t># Calculate standard deviation and variance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mean_length &lt;-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mean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(g_df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$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length_mm,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na.rm=</a:t>
                </a:r>
                <a:r>
                  <a:rPr>
                    <a:solidFill>
                      <a:srgbClr val="8F5902"/>
                    </a:solidFill>
                    <a:latin typeface="Courier"/>
                  </a:rPr>
                  <a:t>TRUE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)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sd_length &lt;-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sd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(g_df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$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length_mm)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var_length &lt;-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var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(g_df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$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length_mm)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mean_length</a:t>
                </a:r>
              </a:p>
              <a:p>
                <a:pPr lvl="0" indent="0">
                  <a:buNone/>
                </a:pPr>
                <a:r>
                  <a:rPr sz="2000">
                    <a:latin typeface="Courier"/>
                  </a:rPr>
                  <a:t>[1] 324.494</a:t>
                </a:r>
              </a:p>
              <a:p>
                <a:pPr lvl="0" indent="0">
                  <a:buNone/>
                </a:pPr>
                <a:r>
                  <a:rPr>
                    <a:solidFill>
                      <a:srgbClr val="003B4F"/>
                    </a:solidFill>
                    <a:latin typeface="Courier"/>
                  </a:rPr>
                  <a:t>sd_length</a:t>
                </a:r>
              </a:p>
              <a:p>
                <a:pPr lvl="0" indent="0">
                  <a:buNone/>
                </a:pPr>
                <a:r>
                  <a:rPr sz="2000">
                    <a:latin typeface="Courier"/>
                  </a:rPr>
                  <a:t>[1] 65.00659</a:t>
                </a:r>
              </a:p>
              <a:p>
                <a:pPr lvl="0" indent="0">
                  <a:buNone/>
                </a:pPr>
                <a:r>
                  <a:rPr>
                    <a:solidFill>
                      <a:srgbClr val="003B4F"/>
                    </a:solidFill>
                    <a:latin typeface="Courier"/>
                  </a:rPr>
                  <a:t>var_length</a:t>
                </a:r>
              </a:p>
              <a:p>
                <a:pPr lvl="0" indent="0">
                  <a:buNone/>
                </a:pPr>
                <a:r>
                  <a:rPr sz="2000">
                    <a:latin typeface="Courier"/>
                  </a:rPr>
                  <a:t>[1] 4225.856</a:t>
                </a:r>
              </a:p>
              <a:p>
                <a:pPr lvl="0" indent="0" marL="1270000">
                  <a:buNone/>
                </a:pPr>
                <a:r>
                  <a:rPr sz="2000" b="1"/>
                  <a:t>Exercise 6: Calculate Quartiles and Percentiles</a:t>
                </a:r>
              </a:p>
              <a:p>
                <a:pPr lvl="0" indent="0">
                  <a:buNone/>
                </a:pPr>
                <a:r>
                  <a:rPr>
                    <a:solidFill>
                      <a:srgbClr val="5E5E5E"/>
                    </a:solidFill>
                    <a:latin typeface="Courier"/>
                  </a:rPr>
                  <a:t># Calculate quartiles for overall data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quartiles &lt;-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quantile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(g_df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$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length_mm,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probs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c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0.25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, 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0.5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, 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0.75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))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quartiles</a:t>
                </a:r>
              </a:p>
              <a:p>
                <a:pPr lvl="0" indent="0">
                  <a:buNone/>
                </a:pPr>
                <a:r>
                  <a:rPr sz="2000">
                    <a:latin typeface="Courier"/>
                  </a:rPr>
                  <a:t>   25%    50%    75% 
270.75 324.50 377.00 </a:t>
                </a:r>
              </a:p>
              <a:p>
                <a:pPr lvl="0" indent="0">
                  <a:buNone/>
                </a:pPr>
                <a:r>
                  <a:rPr>
                    <a:solidFill>
                      <a:srgbClr val="5E5E5E"/>
                    </a:solidFill>
                    <a:latin typeface="Courier"/>
                  </a:rPr>
                  <a:t># Calculate a more comprehensive set of percentiles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percentiles &lt;-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quantile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(g_df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$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length_mm, 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                     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probs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c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0.1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, 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0.25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, 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0.5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, 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0.75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, 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0.9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))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percentiles</a:t>
                </a:r>
              </a:p>
              <a:p>
                <a:pPr lvl="0" indent="0">
                  <a:buNone/>
                </a:pPr>
                <a:r>
                  <a:rPr sz="2000">
                    <a:latin typeface="Courier"/>
                  </a:rPr>
                  <a:t>   10%    25%    50%    75%    90% 
251.10 270.75 324.50 377.00 408.60 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Note you could add a box plot by lake to see this if you wanted</a:t>
                </a:r>
              </a:p>
              <a:p>
                <a:pPr lvl="0" indent="0" marL="1270000">
                  <a:buNone/>
                </a:pPr>
                <a:r>
                  <a:rPr sz="2000" b="1"/>
                  <a:t>Exercise 7: Calculate the Coefficient of Variation</a:t>
                </a:r>
              </a:p>
              <a:p>
                <a:pPr lvl="0" indent="0" marL="1270000">
                  <a:buNone/>
                </a:pPr>
                <a:r>
                  <a:rPr sz="2000"/>
                  <a:t>The coefficient of variation (CV) is the standard deviation expressed as a percentage of the mean:</a:t>
                </a:r>
              </a:p>
              <a:p>
                <a:pPr lvl="0" indent="0" marL="127000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C</m:t>
                      </m:r>
                      <m:r>
                        <m:t>V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s</m:t>
                          </m:r>
                        </m:num>
                        <m:den>
                          <m:acc>
                            <m:accPr>
                              <m:chr m:val="‾"/>
                            </m:accPr>
                            <m:e>
                              <m:r>
                                <m:t>Y</m:t>
                              </m:r>
                            </m:e>
                          </m:acc>
                        </m:den>
                      </m:f>
                      <m:r>
                        <m:rPr>
                          <m:sty m:val="p"/>
                        </m:rPr>
                        <m:t>×</m:t>
                      </m:r>
                      <m:r>
                        <m:t>100</m:t>
                      </m:r>
                      <m:r>
                        <m:rPr>
                          <m:sty m:val="p"/>
                        </m:rPr>
                        <m:t>%</m:t>
                      </m:r>
                    </m:oMath>
                  </m:oMathPara>
                </a14:m>
              </a:p>
              <a:p>
                <a:pPr lvl="0" indent="0">
                  <a:buNone/>
                </a:pPr>
                <a:r>
                  <a:rPr>
                    <a:solidFill>
                      <a:srgbClr val="5E5E5E"/>
                    </a:solidFill>
                    <a:latin typeface="Courier"/>
                  </a:rPr>
                  <a:t># Calculate coefficient of variation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sd_length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/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mean_length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*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100</a:t>
                </a:r>
              </a:p>
              <a:p>
                <a:pPr lvl="0" indent="0">
                  <a:buNone/>
                </a:pPr>
                <a:r>
                  <a:rPr sz="2000">
                    <a:latin typeface="Courier"/>
                  </a:rPr>
                  <a:t>[1] 20.03321</a:t>
                </a:r>
              </a:p>
              <a:p>
                <a:pPr lvl="0" indent="0">
                  <a:buNone/>
                </a:pPr>
                <a:r>
                  <a:rPr>
                    <a:solidFill>
                      <a:srgbClr val="5E5E5E"/>
                    </a:solidFill>
                    <a:latin typeface="Courier"/>
                  </a:rPr>
                  <a:t># Calculate by lake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g_df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%&gt;%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group_by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(lake)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%&gt;%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summarise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 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mean_length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mean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(length_mm),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 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sd_length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sd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(length_mm),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 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cv_length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sd_length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/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mean_length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*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100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) 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# A tibble: 2 × 4
  lake  mean_length sd_length cv_length
  &lt;chr&gt;       &lt;dbl&gt;     &lt;dbl&gt;     &lt;dbl&gt;
1 I3           266.      28.3      10.7
2 I8           363.      52.3      14.4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Questions to Consider: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How do the means and medians compare within each lake? What might this tell you about the distribution?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Which lake has more variable fish lengths? How can you tell?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Why might the coefficient of variation be useful when comparing variability between different measurements (e.g., length vs. mass)?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Questions to Consider: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Which visualization best shows the differences in fish lengths between lakes?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What can you learn from the violin plots that might not be apparent from the box plots?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How would you interpret the cumulative frequency distribution?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What patterns or insights can you identify from these visualizations?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Part 4: Interpreting the Results</a:t>
                </a:r>
              </a:p>
              <a:p>
                <a:pPr lvl="0" indent="0" marL="0">
                  <a:buNone/>
                </a:pPr>
                <a:r>
                  <a:rPr/>
                  <a:t>Based on our analysis, we can make the following observations: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Lake Differences</a:t>
                </a:r>
                <a:r>
                  <a:rPr/>
                  <a:t>: Fish from Lake I8 are generally larger than those from Lake I3, both in length and mass.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Variability</a:t>
                </a:r>
                <a:r>
                  <a:rPr/>
                  <a:t>: Lake I8 shows greater variability in fish lengths and masses than Lake I3, as indicated by higher standard deviations and IQRs.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Distribution Shape</a:t>
                </a:r>
                <a:r>
                  <a:rPr/>
                  <a:t>:</a:t>
                </a:r>
              </a:p>
              <a:p>
                <a:pPr lvl="1"/>
                <a:r>
                  <a:rPr/>
                  <a:t>Lake I3 fish lengths are more symmetrically distributed.</a:t>
                </a:r>
              </a:p>
              <a:p>
                <a:pPr lvl="1"/>
                <a:r>
                  <a:rPr/>
                  <a:t>Lake I8 fish lengths show a slight negative skew, suggesting a few smaller fish pulling the distribution to the left.</a:t>
                </a:r>
              </a:p>
            </p:txBody>
          </p:sp>
        </mc:Choice>
      </mc:AlternateContent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Descriptive Statistics &amp; Wrangling</dc:title>
  <dc:creator>Bill Perry</dc:creator>
  <cp:keywords/>
  <dc:description>Hands-on activity: summaries and tidyverse data wrangling.</dc:description>
  <dcterms:created xsi:type="dcterms:W3CDTF">2026-07-06T00:59:51Z</dcterms:created>
  <dcterms:modified xsi:type="dcterms:W3CDTF">2026-07-06T00:59:51Z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ditor">
    <vt:lpwstr>visual</vt:lpwstr>
  </property>
  <property fmtid="{D5CDD505-2E9C-101B-9397-08002B2CF9AE}" pid="6" name="engines">
    <vt:lpwstr/>
  </property>
  <property fmtid="{D5CDD505-2E9C-101B-9397-08002B2CF9AE}" pid="7" name="execute">
    <vt:lpwstr/>
  </property>
  <property fmtid="{D5CDD505-2E9C-101B-9397-08002B2CF9AE}" pid="8" name="format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labels">
    <vt:lpwstr/>
  </property>
  <property fmtid="{D5CDD505-2E9C-101B-9397-08002B2CF9AE}" pid="13" name="order">
    <vt:lpwstr>3</vt:lpwstr>
  </property>
  <property fmtid="{D5CDD505-2E9C-101B-9397-08002B2CF9AE}" pid="14" name="resources">
    <vt:lpwstr/>
  </property>
  <property fmtid="{D5CDD505-2E9C-101B-9397-08002B2CF9AE}" pid="15" name="subtitle">
    <vt:lpwstr>Summaries and wrangling</vt:lpwstr>
  </property>
  <property fmtid="{D5CDD505-2E9C-101B-9397-08002B2CF9AE}" pid="16" name="toc-title">
    <vt:lpwstr>Table of contents</vt:lpwstr>
  </property>
  <property fmtid="{D5CDD505-2E9C-101B-9397-08002B2CF9AE}" pid="17" name="week">
    <vt:lpwstr>2</vt:lpwstr>
  </property>
</Properties>
</file>