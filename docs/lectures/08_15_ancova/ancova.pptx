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— Analysis of Covariance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Covariates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14: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Review</a:t>
            </a:r>
          </a:p>
          <a:p>
            <a:pPr lvl="0"/>
            <a:r>
              <a:rPr/>
              <a:t>General Linear Models (GLM)</a:t>
            </a:r>
          </a:p>
          <a:p>
            <a:pPr lvl="0"/>
            <a:r>
              <a:rPr/>
              <a:t>Gaussian GLMs (normal distribution)</a:t>
            </a:r>
          </a:p>
          <a:p>
            <a:pPr lvl="0"/>
            <a:r>
              <a:rPr/>
              <a:t>Poisson GLMs (count data)</a:t>
            </a:r>
          </a:p>
          <a:p>
            <a:pPr lvl="0"/>
            <a:r>
              <a:rPr/>
              <a:t>Logistic GLMs (binary outcomes)</a:t>
            </a:r>
          </a:p>
          <a:p>
            <a:pPr lvl="0"/>
            <a:r>
              <a:rPr/>
              <a:t>Model assumptions and diagnostics</a:t>
            </a:r>
          </a:p>
          <a:p>
            <a:pPr lvl="0"/>
            <a:r>
              <a:rPr/>
              <a:t>Connection to ANOVA and linear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15: ANCOVA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Overview</a:t>
            </a:r>
          </a:p>
          <a:p>
            <a:pPr lvl="0"/>
            <a:r>
              <a:rPr/>
              <a:t>Analysis of covariance (ANCOVA):</a:t>
            </a:r>
          </a:p>
          <a:p>
            <a:pPr lvl="1"/>
            <a:r>
              <a:rPr/>
              <a:t>Introduction to ANCOVA</a:t>
            </a:r>
          </a:p>
          <a:p>
            <a:pPr lvl="1"/>
            <a:r>
              <a:rPr/>
              <a:t>The ANCOVA workflow in R</a:t>
            </a:r>
          </a:p>
          <a:p>
            <a:pPr lvl="1"/>
            <a:r>
              <a:rPr/>
              <a:t>When to use ANCOVA</a:t>
            </a:r>
          </a:p>
          <a:p>
            <a:pPr lvl="1"/>
            <a:r>
              <a:rPr/>
              <a:t>Building the ANCOVA model in R</a:t>
            </a:r>
          </a:p>
          <a:p>
            <a:pPr lvl="1"/>
            <a:r>
              <a:rPr/>
              <a:t>Assumptions of ANCOVA</a:t>
            </a:r>
          </a:p>
          <a:p>
            <a:pPr lvl="2"/>
            <a:r>
              <a:rPr/>
              <a:t>Homogeneity of slopes (The critical test!)</a:t>
            </a:r>
          </a:p>
          <a:p>
            <a:pPr lvl="1"/>
            <a:r>
              <a:rPr/>
              <a:t>Interpreting results &amp; “Adjusted Means”</a:t>
            </a:r>
          </a:p>
          <a:p>
            <a:pPr lvl="1"/>
            <a:r>
              <a:rPr/>
              <a:t>Handling violations (heterogeneous slopes)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ANCOVA?</a:t>
            </a:r>
          </a:p>
          <a:p>
            <a:pPr lvl="0"/>
            <a:r>
              <a:rPr/>
              <a:t>ANCOVA = Analysis of COVAriance</a:t>
            </a:r>
          </a:p>
          <a:p>
            <a:pPr lvl="1"/>
            <a:r>
              <a:rPr/>
              <a:t>It’s a combination of regression and ANOVA</a:t>
            </a:r>
          </a:p>
          <a:p>
            <a:pPr lvl="1"/>
            <a:r>
              <a:rPr/>
              <a:t>It’s used when you have:</a:t>
            </a:r>
          </a:p>
          <a:p>
            <a:pPr lvl="2"/>
            <a:r>
              <a:rPr/>
              <a:t>A continuous response variable (Y)</a:t>
            </a:r>
          </a:p>
          <a:p>
            <a:pPr lvl="2"/>
            <a:r>
              <a:rPr/>
              <a:t>A categorical predictor (Factor A)</a:t>
            </a:r>
          </a:p>
          <a:p>
            <a:pPr lvl="2"/>
            <a:r>
              <a:rPr/>
              <a:t>A continuous predictor (Covariate X)</a:t>
            </a:r>
          </a:p>
          <a:p>
            <a:pPr lvl="1"/>
            <a:r>
              <a:rPr b="1"/>
              <a:t>Common use:</a:t>
            </a:r>
          </a:p>
          <a:p>
            <a:pPr lvl="2"/>
            <a:r>
              <a:rPr/>
              <a:t>Compare means of factor levels (groups), after statistically adjusting for the effect of the continuous covariate.</a:t>
            </a:r>
          </a:p>
          <a:p>
            <a:pPr lvl="1"/>
            <a:r>
              <a:rPr b="1"/>
              <a:t>Another use:</a:t>
            </a:r>
          </a:p>
          <a:p>
            <a:pPr lvl="2"/>
            <a:r>
              <a:rPr/>
              <a:t>Determine whether two or more regression lines differ in slopes and/or intercepts.</a:t>
            </a:r>
          </a:p>
        </p:txBody>
      </p:sp>
      <p:pic>
        <p:nvPicPr>
          <p:cNvPr descr="ancova_files/figure-pptx/l15-0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Common Applications of ANCOVA</a:t>
            </a:r>
          </a:p>
          <a:p>
            <a:pPr lvl="1"/>
            <a:r>
              <a:rPr b="1"/>
              <a:t>Increasing statistical power</a:t>
            </a:r>
          </a:p>
          <a:p>
            <a:pPr lvl="2"/>
            <a:r>
              <a:rPr/>
              <a:t>The covariate (e.g., body size, initial temperature) explains some of the “noise” (residual error) in the response variable.</a:t>
            </a:r>
          </a:p>
          <a:p>
            <a:pPr lvl="2"/>
            <a:r>
              <a:rPr/>
              <a:t>By “removing” this variation, we reduce the residual error, making it easier to detect the true effect of our categorical factor.</a:t>
            </a:r>
          </a:p>
          <a:p>
            <a:pPr lvl="2"/>
            <a:r>
              <a:rPr/>
              <a:t>This results in a more powerful test of treatment effects.</a:t>
            </a:r>
          </a:p>
          <a:p>
            <a:pPr lvl="1"/>
            <a:r>
              <a:rPr b="1"/>
              <a:t>Adjusting for confounding variables</a:t>
            </a:r>
          </a:p>
          <a:p>
            <a:pPr lvl="2"/>
            <a:r>
              <a:rPr/>
              <a:t>Imagine your treatment groups happen to differ in their average covariate value (e.g., Group A was tested in a warmer room than Group B).</a:t>
            </a:r>
          </a:p>
          <a:p>
            <a:pPr lvl="2"/>
            <a:r>
              <a:rPr/>
              <a:t>ANCOVA allows you to separate the treatment effect from the covariate effect.</a:t>
            </a:r>
          </a:p>
          <a:p>
            <a:pPr lvl="1"/>
            <a:r>
              <a:rPr b="1"/>
              <a:t>Testing equality of regression lines</a:t>
            </a:r>
          </a:p>
          <a:p>
            <a:pPr lvl="2"/>
            <a:r>
              <a:rPr/>
              <a:t>Do treatments have the same relationship (slope) with a continuous variable?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Example: Cricket Chirping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Cricket Chirping Example</a:t>
            </a:r>
          </a:p>
          <a:p>
            <a:pPr lvl="0"/>
            <a:r>
              <a:rPr/>
              <a:t>Want to compare chirping rate of two cricket species:</a:t>
            </a:r>
          </a:p>
          <a:p>
            <a:pPr lvl="1"/>
            <a:r>
              <a:rPr i="1"/>
              <a:t>Oecanthus exclamationis</a:t>
            </a:r>
          </a:p>
          <a:p>
            <a:pPr lvl="1"/>
            <a:r>
              <a:rPr i="1"/>
              <a:t>Oecanthus niveus</a:t>
            </a:r>
          </a:p>
          <a:p>
            <a:pPr lvl="0"/>
            <a:r>
              <a:rPr b="1"/>
              <a:t>But…</a:t>
            </a:r>
          </a:p>
          <a:p>
            <a:pPr lvl="1"/>
            <a:r>
              <a:rPr/>
              <a:t>Measured rates at different temperatures.</a:t>
            </a:r>
          </a:p>
          <a:p>
            <a:pPr lvl="1"/>
            <a:r>
              <a:rPr/>
              <a:t>Range of temperatures differed between species.</a:t>
            </a:r>
          </a:p>
          <a:p>
            <a:pPr lvl="1"/>
            <a:r>
              <a:rPr/>
              <a:t>There is an apparent relationship between pulse rate and temperature.</a:t>
            </a:r>
          </a:p>
          <a:p>
            <a:pPr lvl="0"/>
            <a:r>
              <a:rPr b="1"/>
              <a:t>Problem:</a:t>
            </a:r>
            <a:r>
              <a:rPr/>
              <a:t> Are the species different, or are they just at different temperatures?</a:t>
            </a:r>
          </a:p>
          <a:p>
            <a:pPr lvl="0"/>
            <a:r>
              <a:rPr b="1"/>
              <a:t>Solution:</a:t>
            </a:r>
            <a:r>
              <a:rPr/>
              <a:t> ANCOVA lets us adjust for the temperature effect to get a clearer, more powerful test of the species effect. .</a:t>
            </a:r>
            <a:br/>
          </a:p>
        </p:txBody>
      </p:sp>
      <p:pic>
        <p:nvPicPr>
          <p:cNvPr descr="ancova_files/figure-pptx/l15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Linear Model: Conceptual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ANCOVA Model</a:t>
            </a:r>
          </a:p>
          <a:p>
            <a:pPr lvl="1"/>
            <a:r>
              <a:rPr/>
              <a:t>Key concept: Dfference between “unadjusted” group means and “adjusted” means</a:t>
            </a:r>
          </a:p>
          <a:p>
            <a:pPr lvl="0"/>
            <a:r>
              <a:rPr b="1"/>
              <a:t>In this visualization:</a:t>
            </a:r>
          </a:p>
          <a:p>
            <a:pPr lvl="1"/>
            <a:r>
              <a:rPr b="1"/>
              <a:t>Group Means (asterisks):</a:t>
            </a:r>
            <a:r>
              <a:rPr/>
              <a:t> The raw average X and Y for each group.</a:t>
            </a:r>
          </a:p>
          <a:p>
            <a:pPr lvl="1"/>
            <a:r>
              <a:rPr/>
              <a:t>Group A and Group B have different mean X values. Comparing directly misleading</a:t>
            </a:r>
          </a:p>
          <a:p>
            <a:pPr lvl="1"/>
            <a:r>
              <a:rPr b="1"/>
              <a:t>Adjusted Means (triangles):</a:t>
            </a:r>
            <a:r>
              <a:rPr/>
              <a:t> ANCOVA statistically “moves” each group mean along regression line to single, common X value (the overall mean X).</a:t>
            </a:r>
          </a:p>
          <a:p>
            <a:pPr lvl="1"/>
            <a:r>
              <a:rPr/>
              <a:t>ANCOVA compares heights (the Y values) of adjusted means.</a:t>
            </a:r>
          </a:p>
          <a:p>
            <a:pPr lvl="1"/>
            <a:r>
              <a:rPr/>
              <a:t>Adjustment “levels the playing field,” estimating each group’s mean if all groups had same average covariate value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Model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Mathematical Model for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Single-factor ANCOVA with</a:t>
                </a:r>
              </a:p>
              <a:p>
                <a:pPr lvl="1"/>
                <a:r>
                  <a:rPr/>
                  <a:t>factor A (p levels, i = 1 to p), a continuous covariate (x), and response variable (y):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response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of factor A (what we test in ANOVA)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common regression slope relating Y to X (what we test in Regression)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mean value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error term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Parameters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Interpretation of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 response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(difference between group’s adjusted mean and overall mean)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pooled within-group regression coefficient (the slope)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group i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overall mean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unexplained error</a:t>
                </a:r>
              </a:p>
              <a:p>
                <a:pPr lvl="0"/>
                <a:r>
                  <a:rPr b="1"/>
                  <a:t>Model assumes homogeneous slopes</a:t>
                </a:r>
                <a:r>
                  <a:rPr/>
                  <a:t> (i.e.,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same for all groups) .</a:t>
                </a:r>
              </a:p>
            </p:txBody>
          </p:sp>
        </mc:Choice>
      </mc:AlternateContent>
      <p:pic>
        <p:nvPicPr>
          <p:cNvPr descr="ancova_files/figure-pptx/l15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Remember </a:t>
            </a:r>
            <a:r>
              <a:rPr>
                <a:latin typeface="Courier"/>
              </a:rPr>
              <a:t>lm(y ~ predictor)</a:t>
            </a:r>
            <a:r>
              <a:rPr/>
              <a:t>.</a:t>
            </a:r>
          </a:p>
          <a:p>
            <a:pPr lvl="1"/>
            <a:r>
              <a:rPr/>
              <a:t>ANCOVA combines the predictors from ANOVA and regression.</a:t>
            </a:r>
          </a:p>
          <a:p>
            <a:pPr lvl="0"/>
            <a:r>
              <a:rPr b="1"/>
              <a:t>Simple Linear Regression:</a:t>
            </a:r>
          </a:p>
          <a:p>
            <a:pPr lvl="1"/>
            <a:r>
              <a:rPr/>
              <a:t>Predict y using a continuous variable x.</a:t>
            </a:r>
          </a:p>
          <a:p>
            <a:pPr lvl="2"/>
            <a:r>
              <a:rPr>
                <a:latin typeface="Courier"/>
              </a:rPr>
              <a:t>model_reg &lt;- lm(y ~ x, data = mydata)</a:t>
            </a:r>
          </a:p>
          <a:p>
            <a:pPr lvl="0"/>
            <a:r>
              <a:rPr b="1"/>
              <a:t>One-Way ANOVA:</a:t>
            </a:r>
          </a:p>
          <a:p>
            <a:pPr lvl="1"/>
            <a:r>
              <a:rPr/>
              <a:t>We want to compare y among groups in a categorical factor A.</a:t>
            </a:r>
          </a:p>
          <a:p>
            <a:pPr lvl="2"/>
            <a:r>
              <a:rPr>
                <a:latin typeface="Courier"/>
              </a:rPr>
              <a:t>model_aov &lt;- lm(y ~ A, data = mydata)</a:t>
            </a:r>
          </a:p>
          <a:p>
            <a:pPr lvl="0"/>
            <a:r>
              <a:rPr b="1"/>
              <a:t>ANCOVA (Additive Model):</a:t>
            </a:r>
          </a:p>
          <a:p>
            <a:pPr lvl="1"/>
            <a:r>
              <a:rPr/>
              <a:t>Compare y among groups in A, after accounting for effect of x.</a:t>
            </a:r>
          </a:p>
          <a:p>
            <a:pPr lvl="1"/>
            <a:r>
              <a:rPr/>
              <a:t>Add terms together</a:t>
            </a:r>
          </a:p>
          <a:p>
            <a:pPr lvl="2"/>
            <a:r>
              <a:rPr>
                <a:latin typeface="Courier"/>
              </a:rPr>
              <a:t>model_ancova &lt;- lm(y ~ A + x, data = mydata)</a:t>
            </a:r>
          </a:p>
          <a:p>
            <a:pPr lvl="1"/>
            <a:r>
              <a:rPr/>
              <a:t>Model assumes slope of y ~ x relationship is same for all groups in A.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ANCOVA (Interaction Model):</a:t>
            </a:r>
          </a:p>
          <a:p>
            <a:pPr lvl="1"/>
            <a:r>
              <a:rPr/>
              <a:t>What if the slopes are different for each group?</a:t>
            </a:r>
          </a:p>
          <a:p>
            <a:pPr lvl="1"/>
            <a:r>
              <a:rPr/>
              <a:t>Test for interaction between factor and covariate.</a:t>
            </a:r>
          </a:p>
          <a:p>
            <a:pPr lvl="2"/>
            <a:r>
              <a:rPr>
                <a:latin typeface="Courier"/>
              </a:rPr>
              <a:t>model_int &lt;- lm(y ~ A * x, data = mydata)</a:t>
            </a:r>
          </a:p>
          <a:p>
            <a:pPr lvl="1"/>
            <a:r>
              <a:rPr/>
              <a:t>Shorthand for: </a:t>
            </a:r>
            <a:r>
              <a:rPr>
                <a:latin typeface="Courier"/>
              </a:rPr>
              <a:t>lm(y ~ A + x + A:x, data = mydata)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A:x</a:t>
            </a:r>
            <a:r>
              <a:rPr/>
              <a:t> term tests if the slopes are different.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The 3-Step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 Test for Homogeneity of Slopes - Always Start Here</a:t>
            </a:r>
          </a:p>
          <a:p>
            <a:pPr lvl="1"/>
            <a:r>
              <a:rPr/>
              <a:t>Fit interaction model first - tests key assumption that all groups share same slope.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asterisk * tests for both main effects AND the interaction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model_int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</a:p>
          <a:p>
            <a:pPr lvl="0"/>
            <a:r>
              <a:rPr b="1"/>
              <a:t>Step 2: Examine the Interaction Term</a:t>
            </a:r>
          </a:p>
          <a:p>
            <a:pPr lvl="1"/>
            <a:r>
              <a:rPr/>
              <a:t>ANOVA table for </a:t>
            </a:r>
            <a:r>
              <a:rPr>
                <a:latin typeface="Courier"/>
              </a:rPr>
              <a:t>model_int</a:t>
            </a:r>
            <a:r>
              <a:rPr/>
              <a:t> and find the p-value for interaction term (</a:t>
            </a:r>
            <a:r>
              <a:rPr>
                <a:latin typeface="Courier"/>
              </a:rPr>
              <a:t>A:x</a:t>
            </a:r>
            <a:r>
              <a:rPr/>
              <a:t>).</a:t>
            </a:r>
          </a:p>
          <a:p>
            <a:pPr lvl="1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1"/>
            <a:r>
              <a:rPr b="1"/>
              <a:t>If p &gt; 0.05</a:t>
            </a:r>
            <a:r>
              <a:rPr/>
              <a:t> (e.g., p = 0.4) - interaction </a:t>
            </a:r>
            <a:r>
              <a:rPr b="1"/>
              <a:t>IS NOT</a:t>
            </a:r>
            <a:r>
              <a:rPr/>
              <a:t> significant - slopes are homogeneous (parallel).</a:t>
            </a:r>
          </a:p>
          <a:p>
            <a:pPr lvl="1"/>
            <a:r>
              <a:rPr b="1"/>
              <a:t>If p &lt; 0.05</a:t>
            </a:r>
            <a:r>
              <a:rPr/>
              <a:t> (e.g., p = 0.02): - interaction </a:t>
            </a:r>
            <a:r>
              <a:rPr b="1"/>
              <a:t>IS</a:t>
            </a:r>
            <a:r>
              <a:rPr/>
              <a:t> significant - slopes heterogeneous (NOT parallel).</a:t>
            </a:r>
          </a:p>
          <a:p>
            <a:pPr lvl="1"/>
            <a:r>
              <a:rPr/>
              <a:t>** standard ANCOVA model (</a:t>
            </a:r>
            <a:r>
              <a:rPr>
                <a:latin typeface="Courier"/>
              </a:rPr>
              <a:t>y ~ A + x</a:t>
            </a:r>
            <a:r>
              <a:rPr/>
              <a:t>) inappropriate**</a:t>
            </a:r>
          </a:p>
          <a:p>
            <a:pPr lvl="1"/>
            <a:r>
              <a:rPr/>
              <a:t>Analysis stops here and interpret interaction (often most interesting result!)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The 3-Step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3: Run the ANCOVA (Additive Model)</a:t>
            </a:r>
          </a:p>
          <a:p>
            <a:pPr lvl="1"/>
            <a:r>
              <a:rPr/>
              <a:t>If interaction not significant, run the simpler additive model the final ANCOVA model.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 use the + sign, which means "additive"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model_ancova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final ANCOVA table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adjusted means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Analysis of Variance for ANCOVA: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for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ANOVA table for a single-factor ANCOVA has these components: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4 × 6
##   Source            df    `Sum of Squares` `Mean Square` `F-ratio` `Expected MS`
##   &lt;chr&gt;             &lt;chr&gt; &lt;chr&gt;            &lt;chr&gt;         &lt;chr&gt;     &lt;chr&gt;        
## 1 Factor A (adjust… (p-1) SS_A(adj)        "MS_A(adj) =… "MS_A(ad… "σ² + n∑α²/(…
## 2 Covariate         1     SS_Covariate     "MS_Covariat… "MS_Cova… "σ² + β²∑(X-…
## 3 Residual          n-p-1 SS_Residual      "MS_Residual… ""        "σ²"         
## 4 Total             n-1   SS_Total         ""            ""        ""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Null Hypotheses in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Homogeneity of Slopes (Test this first!)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regression slopes the same for all groups?</a:t>
                </a:r>
              </a:p>
              <a:p>
                <a:pPr lvl="0" indent="0" marL="0">
                  <a:buNone/>
                </a:pPr>
                <a:r>
                  <a:rPr/>
                  <a:t>Test with the </a:t>
                </a:r>
                <a:r>
                  <a:rPr>
                    <a:latin typeface="Courier"/>
                  </a:rPr>
                  <a:t>A:x</a:t>
                </a:r>
                <a:r>
                  <a:rPr/>
                  <a:t> interaction term in </a:t>
                </a:r>
                <a:r>
                  <a:rPr>
                    <a:latin typeface="Courier"/>
                  </a:rPr>
                  <a:t>lm(y ~ A * x)</a:t>
                </a:r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Treatment Effect (adjusted for covariate)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adjusted group means equal?</a:t>
                </a:r>
              </a:p>
              <a:p>
                <a:pPr lvl="0" indent="0" marL="0">
                  <a:buNone/>
                </a:pPr>
                <a:r>
                  <a:rPr/>
                  <a:t>Test with F = MS_A(adj)/MS_Residual (the ‘A’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Covariate Effect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β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Is there a relationship between the covariate and the response?</a:t>
                </a:r>
              </a:p>
              <a:p>
                <a:pPr lvl="0" indent="0" marL="0">
                  <a:buNone/>
                </a:pPr>
                <a:r>
                  <a:rPr/>
                  <a:t>Test with F = MS_Covariate/MS_Residual (the ‘x’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Homogeneity of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Parallel vs. Non-Parallel Slopes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ANCOVA on Longevity of Male Fruitflies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1 - Test Homogeneity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Testing Homogeneity of Slopes</a:t>
            </a:r>
          </a:p>
          <a:p>
            <a:pPr lvl="1"/>
            <a:r>
              <a:rPr/>
              <a:t>First, fit interaction model.</a:t>
            </a:r>
          </a:p>
          <a:p>
            <a:pPr lvl="1"/>
            <a:r>
              <a:rPr/>
              <a:t>The p-value for the interaction term (THORAX:treatment) is xl.</a:t>
            </a:r>
          </a:p>
          <a:p>
            <a:pPr lvl="1"/>
            <a:r>
              <a:rPr/>
              <a:t>Since this value is &gt; 0.05, we conclude the slopes are homogeneous.</a:t>
            </a:r>
          </a:p>
          <a:p>
            <a:pPr lvl="1"/>
            <a:r>
              <a:rPr/>
              <a:t>We can proceed to Step 3 and fit the simpler additive model.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LONGEV
##                   Sum Sq  Df  F value    Pr(&gt;F)    
## (Intercept)       2963.8   1  26.0142 1.349e-06 ***
## THORAX           12805.8   1 112.3988 &lt; 2.2e-16 ***
## treatment           36.9   4   0.0810    0.9881    
## THORAX:treatment    42.5   4   0.0933    0.9844    
## Residuals        13102.1 115                       
## ---
## 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3 ANCOVA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Since the interaction was not significant, we re-run the model without it.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 b="1"/>
              <a:t>THORAX:</a:t>
            </a:r>
            <a:r>
              <a:rPr/>
              <a:t> covariate highly significant</a:t>
            </a:r>
          </a:p>
          <a:p>
            <a:pPr lvl="2"/>
            <a:r>
              <a:rPr/>
              <a:t>thorax length explains significant amount of variance in longevity</a:t>
            </a:r>
          </a:p>
          <a:p>
            <a:pPr lvl="2"/>
            <a:r>
              <a:rPr b="1"/>
              <a:t>treatment:</a:t>
            </a:r>
            <a:r>
              <a:rPr/>
              <a:t> treatment effect, after adjusting for thorax length, is highly significant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LONGEV
##              Sum Sq  Df F value    Pr(&gt;F)    
## (Intercept)  3069.7   1  27.791 6.123e-07 ***
## THORAX      13168.9   1 119.219 &lt; 2.2e-16 ***
## treatment    9611.5   4  21.753 1.719e-13 ***
## Residuals   13144.7 119                      
## ---
## Signif. codes:  0 '***' 0.001 '**' 0.01 '*' 0.05 '.' 0.1 ' ' 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Getting Adjusted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ANOVA table tells us the treatments are different, but not which ones.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</a:t>
            </a:r>
            <a:r>
              <a:rPr/>
              <a:t> package to get the adjusted means / perform pairwise comparisons</a:t>
            </a:r>
          </a:p>
          <a:p>
            <a:pPr lvl="1"/>
            <a:r>
              <a:rPr/>
              <a:t>The “estimated marginal mean” (or adjusted mean)</a:t>
            </a:r>
          </a:p>
          <a:p>
            <a:pPr lvl="1"/>
            <a:r>
              <a:rPr/>
              <a:t>predicted longevity for each group, assuming an average thorax length</a:t>
            </a:r>
          </a:p>
          <a:p>
            <a:pPr lvl="1"/>
            <a:r>
              <a:rPr/>
              <a:t>This is the “level playing field” comparison.</a:t>
            </a:r>
          </a:p>
          <a:p>
            <a:pPr lvl="0" indent="0">
              <a:buNone/>
            </a:pPr>
            <a:r>
              <a:rPr>
                <a:latin typeface="Courier"/>
              </a:rPr>
              <a:t>##  treatment                       emmean   SE  df lower.CL upper.CL
##  No females                        65.4 2.11 119     61.3     69.6
##  One virgin female daily           61.5 2.11 119     57.3     65.7
##  Eight virgin females daily        64.2 2.10 119     60.0     68.3
##  One inseminated female daily      54.5 2.11 119     50.3     58.7
##  Eight inseminated females daily   41.6 2.12 119     37.4     45.8
## 
## Confidence level used: 0.95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>
              <a:buNone/>
            </a:pPr>
            <a:r>
              <a:rPr>
                <a:latin typeface="Courier"/>
              </a:rPr>
              <a:t>##  contrast                                                       estimate   SE
##  No females - One virgin female daily                               3.93 3.00
##  No females - Eight virgin females daily                            1.28 2.98
##  No females - One inseminated female daily                         10.95 3.00
##  No females - Eight inseminated females daily                      23.88 2.97
##  One virgin female daily - Eight virgin females daily              -2.65 2.98
##  One virgin female daily - One inseminated female daily             7.02 2.97
##  One virgin female daily - Eight inseminated females daily         19.95 3.01
##  Eight virgin females daily - One inseminated female daily          9.67 2.98
##  Eight virgin females daily - Eight inseminated females daily      22.60 2.99
##  One inseminated female daily - Eight inseminated females daily    12.93 3.01
##   df t.ratio p.value
##  119   1.311  0.6849
##  119   0.428  0.9929
##  119   3.650  0.0035
##  119   8.031 &lt;0.0001
##  119  -0.891  0.8996
##  119   2.361  0.1336
##  119   6.636 &lt;0.0001
##  119   3.249  0.0129
##  119   7.560 &lt;0.0001
##  119   4.298  0.0003
## 
## P value adjustment: tukey method for comparing a family of 5 estimates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Visualization Options for ANCOVA</a:t>
            </a:r>
          </a:p>
          <a:p>
            <a:pPr lvl="0" indent="0" marL="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if Slopes are HETEROGENEOUS? (p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Example: Sea Urchin Shrinking w/ Heterogeneous Slopes</a:t>
            </a:r>
          </a:p>
          <a:p>
            <a:pPr lvl="0"/>
            <a:r>
              <a:rPr/>
              <a:t>Constable (1993) studied sea urchin test shrinking:</a:t>
            </a:r>
          </a:p>
          <a:p>
            <a:pPr lvl="1"/>
            <a:r>
              <a:rPr/>
              <a:t>Compared suture widths between treatments</a:t>
            </a:r>
          </a:p>
          <a:p>
            <a:pPr lvl="1"/>
            <a:r>
              <a:rPr/>
              <a:t>Three groups: high food, low food, initial sample</a:t>
            </a:r>
          </a:p>
          <a:p>
            <a:pPr lvl="1"/>
            <a:r>
              <a:rPr/>
              <a:t>Covariate: body volume (cube root transformed)</a:t>
            </a:r>
          </a:p>
          <a:p>
            <a:pPr lvl="0"/>
            <a:r>
              <a:rPr/>
              <a:t>The analysis showed:</a:t>
            </a:r>
          </a:p>
          <a:p>
            <a:pPr lvl="1"/>
            <a:r>
              <a:rPr/>
              <a:t>Significant interaction between treatment and covariate</a:t>
            </a:r>
          </a:p>
          <a:p>
            <a:pPr lvl="1"/>
            <a:r>
              <a:rPr/>
              <a:t>Heterogeneous slopes across treatments</a:t>
            </a:r>
          </a:p>
          <a:p>
            <a:pPr lvl="0"/>
            <a:r>
              <a:rPr/>
              <a:t>Relationship between body volume and suture width depends on treatment group</a:t>
            </a:r>
          </a:p>
          <a:p>
            <a:pPr lvl="0"/>
            <a:r>
              <a:rPr b="1"/>
              <a:t>Standard ANCOVA is invalid.</a:t>
            </a:r>
            <a:br/>
            <a:r>
              <a:rPr/>
              <a:t>.</a:t>
            </a:r>
            <a:br/>
          </a:p>
        </p:txBody>
      </p:sp>
      <p:pic>
        <p:nvPicPr>
          <p:cNvPr descr="ancova_files/figure-pptx/l15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Handling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interaction term is significant (p &lt; 0.05):</a:t>
            </a:r>
          </a:p>
          <a:p>
            <a:pPr lvl="0" indent="-342900" marL="342900">
              <a:buAutoNum type="arabicPeriod"/>
            </a:pPr>
            <a:r>
              <a:rPr b="1"/>
              <a:t>Report interaction!</a:t>
            </a:r>
            <a:r>
              <a:rPr/>
              <a:t> often more interesting biological result than simple mean differences</a:t>
            </a:r>
          </a:p>
          <a:p>
            <a:pPr lvl="0" indent="-342900" marL="342900">
              <a:buAutoNum type="arabicPeriod"/>
            </a:pPr>
            <a:r>
              <a:rPr b="1"/>
              <a:t>Analyze slopes:</a:t>
            </a:r>
            <a:r>
              <a:rPr/>
              <a:t> Use emmeans to get slopes for each group.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emtrends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type="arabicPeriod"/>
            </a:pPr>
            <a:r>
              <a:rPr b="1"/>
              <a:t>Johnson-Neyman procedure:</a:t>
            </a:r>
            <a:r>
              <a:rPr/>
              <a:t> advanced method to identify regions of covariate (X-axis) where groups are (and are not) significantly different.</a:t>
            </a:r>
          </a:p>
          <a:p>
            <a:pPr lvl="0" indent="-342900" marL="342900">
              <a:buAutoNum type="arabicPeriod"/>
            </a:pPr>
            <a:r>
              <a:rPr b="1"/>
              <a:t>Separate regressions:</a:t>
            </a:r>
            <a:r>
              <a:rPr/>
              <a:t> Analyze each group separately (less powerful).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suture_width
##                     Sum Sq Df F value    Pr(&gt;F)    
## (Intercept)      0.0093295  1  104.97 2.828e-15 ***
## volume           0.0197876  1  222.63 &lt; 2.2e-16 ***
## treatment        0.0020070  2   11.29 6.064e-05 ***
## volume:treatment 0.0062129  2   34.95 4.453e-11 ***
## Residuals        0.0058662 66                      
## ---
## Signif. codes:  0 '***' 0.001 '**' 0.01 '*' 0.05 '.' 0.1 ' ' 1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Interpretation of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With heterogeneous slopes, interpretation shifts from “adjusted means” to “regions of significance”:</a:t>
            </a:r>
          </a:p>
          <a:p>
            <a:pPr lvl="1"/>
            <a:r>
              <a:rPr b="1"/>
              <a:t>Initial &gt; Low Food</a:t>
            </a:r>
            <a:r>
              <a:rPr/>
              <a:t> when cube root body volume &gt; 2.95</a:t>
            </a:r>
            <a:br/>
            <a:r>
              <a:rPr/>
              <a:t>For large urchins, initial sample has wider sutures than low food urchins</a:t>
            </a:r>
          </a:p>
          <a:p>
            <a:pPr lvl="1"/>
            <a:r>
              <a:rPr b="1"/>
              <a:t>High Food &gt; Initial</a:t>
            </a:r>
            <a:r>
              <a:rPr/>
              <a:t> when cube root body volume &gt; 1.81</a:t>
            </a:r>
            <a:br/>
            <a:r>
              <a:rPr/>
              <a:t>For most urchins, high food treatment results in wider sutures than initial samples.</a:t>
            </a:r>
          </a:p>
          <a:p>
            <a:pPr lvl="1"/>
            <a:r>
              <a:rPr b="1"/>
              <a:t>High Food &gt; Low Food</a:t>
            </a:r>
            <a:r>
              <a:rPr/>
              <a:t> when cube root body volume &gt; 2.07</a:t>
            </a:r>
            <a:br/>
            <a:r>
              <a:rPr/>
              <a:t>For most medium to large urchins, high food results in wider sutures than low food.</a:t>
            </a:r>
          </a:p>
          <a:p>
            <a:pPr lvl="0"/>
            <a:r>
              <a:rPr/>
              <a:t>Biological interpretation is food regime affects suture width differently depending on urchin size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Assumptions</a:t>
            </a:r>
          </a:p>
          <a:p>
            <a:pPr lvl="1" indent="-342900" marL="685800">
              <a:buAutoNum type="arabicPeriod"/>
            </a:pPr>
            <a:r>
              <a:rPr b="1"/>
              <a:t>Independence of observations</a:t>
            </a:r>
            <a:br/>
            <a:r>
              <a:rPr/>
              <a:t>Samples are random and independent.</a:t>
            </a:r>
          </a:p>
          <a:p>
            <a:pPr lvl="1" indent="-342900" marL="685800">
              <a:buAutoNum type="arabicPeriod"/>
            </a:pPr>
            <a:r>
              <a:rPr b="1"/>
              <a:t>Normal distribution of residuals</a:t>
            </a:r>
            <a:br/>
            <a:r>
              <a:rPr/>
              <a:t>Check with QQ plots.</a:t>
            </a:r>
          </a:p>
          <a:p>
            <a:pPr lvl="1" indent="-342900" marL="685800">
              <a:buAutoNum type="arabicPeriod"/>
            </a:pPr>
            <a:r>
              <a:rPr b="1"/>
              <a:t>Homogeneity of variances (Homoscedasticity)</a:t>
            </a:r>
            <a:br/>
            <a:r>
              <a:rPr/>
              <a:t>Equal variances across groups.</a:t>
            </a:r>
            <a:br/>
            <a:r>
              <a:rPr/>
              <a:t>Check with residual vs. fitted plots.</a:t>
            </a:r>
          </a:p>
          <a:p>
            <a:pPr lvl="1" indent="-342900" marL="685800">
              <a:buAutoNum type="arabicPeriod"/>
            </a:pPr>
            <a:r>
              <a:rPr b="1"/>
              <a:t>Linearity</a:t>
            </a:r>
            <a:br/>
            <a:r>
              <a:rPr/>
              <a:t>A linear relationship exists between Y and X within each group.</a:t>
            </a:r>
            <a:br/>
            <a:r>
              <a:rPr/>
              <a:t>Check with scatterplots (we did this!).</a:t>
            </a:r>
          </a:p>
          <a:p>
            <a:pPr lvl="1" indent="-342900" marL="685800">
              <a:buAutoNum type="arabicPeriod"/>
            </a:pPr>
            <a:r>
              <a:rPr b="1"/>
              <a:t>Homogeneity of regression slopes (The critical one!)</a:t>
            </a:r>
            <a:br/>
            <a:r>
              <a:rPr/>
              <a:t>Regression slopes are equal across all groups.</a:t>
            </a:r>
            <a:br/>
            <a:r>
              <a:rPr/>
              <a:t>We tested this first! (the A:x interaction).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Assumptions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assumptions 2 and 3, we check the final model (the additive one, if appropriate).</a:t>
            </a:r>
          </a:p>
          <a:p>
            <a:pPr lvl="0"/>
            <a:r>
              <a:rPr b="1"/>
              <a:t>Interpretation:</a:t>
            </a:r>
          </a:p>
          <a:p>
            <a:pPr lvl="1"/>
            <a:r>
              <a:rPr b="1"/>
              <a:t>Residuals vs. Fitted:</a:t>
            </a:r>
            <a:r>
              <a:rPr/>
              <a:t> The red line should be roughly flat at 0. Looks good.</a:t>
            </a:r>
          </a:p>
          <a:p>
            <a:pPr lvl="1"/>
            <a:r>
              <a:rPr b="1"/>
              <a:t>Normal Q-Q:</a:t>
            </a:r>
            <a:r>
              <a:rPr/>
              <a:t> Points should fall along the dashed line. Looks good.</a:t>
            </a:r>
          </a:p>
          <a:p>
            <a:pPr lvl="1"/>
            <a:r>
              <a:rPr b="1"/>
              <a:t>Scale-Location:</a:t>
            </a:r>
            <a:r>
              <a:rPr/>
              <a:t> Red line should be flat (tests homogeneity of variance). Looks good.</a:t>
            </a:r>
          </a:p>
          <a:p>
            <a:pPr lvl="1"/>
            <a:r>
              <a:rPr b="1"/>
              <a:t>Residuals vs. Leverage:</a:t>
            </a:r>
            <a:r>
              <a:rPr/>
              <a:t> No points should be in the top/bottom right (high leverage/influence). Looks good.</a:t>
            </a:r>
          </a:p>
          <a:p>
            <a:pPr lvl="0"/>
            <a:r>
              <a:rPr b="1"/>
              <a:t>Conclusion:</a:t>
            </a:r>
            <a:r>
              <a:rPr/>
              <a:t> The assumptions are met.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ANCOVA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Non-Parametric Alternatives</a:t>
            </a:r>
          </a:p>
          <a:p>
            <a:pPr lvl="0"/>
            <a:r>
              <a:rPr/>
              <a:t>When ANCOVA assumptions are badly violated (especially normality or homogeneity of variance), consider:</a:t>
            </a:r>
          </a:p>
          <a:p>
            <a:pPr lvl="0"/>
            <a:r>
              <a:rPr b="1"/>
              <a:t>Rank Transformation (Simplest)</a:t>
            </a:r>
          </a:p>
          <a:p>
            <a:pPr lvl="1"/>
            <a:r>
              <a:rPr/>
              <a:t>Rank transform both Y and X variables.</a:t>
            </a:r>
          </a:p>
          <a:p>
            <a:pPr lvl="1"/>
            <a:r>
              <a:rPr/>
              <a:t>Run standard ANCOVA on the ranked data.</a:t>
            </a:r>
          </a:p>
          <a:p>
            <a:pPr lvl="1"/>
            <a:r>
              <a:rPr>
                <a:latin typeface="Courier"/>
              </a:rPr>
              <a:t>lm(rank(y) ~ rank(x) + A)</a:t>
            </a:r>
          </a:p>
          <a:p>
            <a:pPr lvl="0"/>
            <a:r>
              <a:rPr b="1"/>
              <a:t>Bootstrapping</a:t>
            </a:r>
          </a:p>
          <a:p>
            <a:pPr lvl="1"/>
            <a:r>
              <a:rPr/>
              <a:t>Use bootstrapping to estimate parameters without assuming normality.</a:t>
            </a:r>
          </a:p>
          <a:p>
            <a:pPr lvl="0"/>
            <a:r>
              <a:rPr b="1"/>
              <a:t>Quantile Regression</a:t>
            </a:r>
          </a:p>
          <a:p>
            <a:pPr lvl="1"/>
            <a:r>
              <a:rPr/>
              <a:t>Models relationships at different quantiles (e.g., the median) instead of the mean.</a:t>
            </a:r>
          </a:p>
          <a:p>
            <a:pPr lvl="0"/>
            <a:r>
              <a:rPr b="1"/>
              <a:t>Permutation Tests</a:t>
            </a:r>
          </a:p>
          <a:p>
            <a:pPr lvl="1"/>
            <a:r>
              <a:rPr/>
              <a:t>Randomization tests of treatment effects. 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rank_LONGEV
##             Sum Sq  Df F value    Pr(&gt;F)    
## (Intercept)  18783   1  38.236 9.121e-09 ***
## rank_THORAX  54314   1 110.564 &lt; 2.2e-16 ***
## treatment    40447   4  20.584 6.536e-13 ***
## Residuals    58458 119                      
## ---
## Signif. codes:  0 '***' 0.001 '**' 0.01 '*' 0.05 '.' 0.1 ' ' 1
## P-value (parametric): 1.719359e-13
## P-value (rank-based): 6.536035e-13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The results are very similar, which gives us more confidence in our original parametric test.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Writing Up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Scientific Writing Example</a:t>
            </a:r>
          </a:p>
          <a:p>
            <a:pPr lvl="0" indent="0" marL="0">
              <a:buNone/>
            </a:pPr>
            <a:r>
              <a:rPr/>
              <a:t>Here’s how you might write up ANCOVA results for publication:</a:t>
            </a:r>
          </a:p>
          <a:p>
            <a:pPr lvl="0" indent="0" marL="1270000">
              <a:buNone/>
            </a:pPr>
            <a:r>
              <a:rPr sz="2000"/>
              <a:t>“We analyzed the effects of mating strategy on male fruitfly longevity using analysis of covariance (ANCOVA), with thorax length as a covariate. Before conducting the main analysis, we tested the homogeneity of slopes assumption and found no significant interaction between treatment and thorax length (F₄,₁₁₅ = xxx , indicating that the effect of body size on longevity was consistent across treatments.</a:t>
            </a:r>
          </a:p>
          <a:p>
            <a:pPr lvl="0" indent="0" marL="1270000">
              <a:buNone/>
            </a:pPr>
            <a:r>
              <a:rPr sz="2000"/>
              <a:t>The ANCOVA revealed significant effects of both treatment (F₄,₁₁₉ = xxxx and thorax length (F₁,₁₁₉ = xxxx, P &lt; 0.001) on longevity. Thorax length was positively associated with longevity…</a:t>
            </a:r>
          </a:p>
          <a:p>
            <a:pPr lvl="0" indent="0" marL="1270000">
              <a:buNone/>
            </a:pPr>
            <a:r>
              <a:rPr sz="2000"/>
              <a:t>After adjusting for body size, males with no female partners lived significantly longer (adjusted mean ± SE: xxxx` days) than males in any other treatment group. Pairwise comparisons using Tukey’s HSD test indicated significant differences between most treatment groups (P &lt; 0.05) except between the ‘One virgin female’ and ‘One inseminated female’ groups (P = x).”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Publication Quality Figure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Purpose:</a:t>
            </a:r>
          </a:p>
          <a:p>
            <a:pPr lvl="1"/>
            <a:r>
              <a:rPr/>
              <a:t>ANCOVA combines regression and ANOVA.</a:t>
            </a:r>
          </a:p>
          <a:p>
            <a:pPr lvl="1"/>
            <a:r>
              <a:rPr/>
              <a:t>It increases power by accounting for a continuous covariate.</a:t>
            </a:r>
          </a:p>
          <a:p>
            <a:pPr lvl="1"/>
            <a:r>
              <a:rPr/>
              <a:t>It adjusts for confounds by comparing “adjusted means.”</a:t>
            </a:r>
          </a:p>
          <a:p>
            <a:pPr lvl="0"/>
            <a:r>
              <a:rPr b="1"/>
              <a:t>The Analysis Workflow</a:t>
            </a:r>
          </a:p>
          <a:p>
            <a:pPr lvl="1" indent="-342900" marL="685800">
              <a:buAutoNum type="arabicPeriod"/>
            </a:pPr>
            <a:r>
              <a:rPr b="1"/>
              <a:t>Step 1:</a:t>
            </a:r>
            <a:r>
              <a:rPr/>
              <a:t> Always test for homogeneity of slopes first (</a:t>
            </a:r>
            <a:r>
              <a:rPr>
                <a:latin typeface="Courier"/>
              </a:rPr>
              <a:t>lm(y ~ A *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2:</a:t>
            </a:r>
            <a:r>
              <a:rPr/>
              <a:t> If slopes are homogeneous (p &gt; 0.05), proceed to the additive model (</a:t>
            </a:r>
            <a:r>
              <a:rPr>
                <a:latin typeface="Courier"/>
              </a:rPr>
              <a:t>lm(y ~ A +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3:</a:t>
            </a:r>
            <a:r>
              <a:rPr/>
              <a:t> If slopes are heterogeneous (p &lt; 0.05), STOP and interpret the interaction.</a:t>
            </a:r>
          </a:p>
          <a:p>
            <a:pPr lvl="0"/>
            <a:r>
              <a:rPr b="1"/>
              <a:t>Interpretation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car::Anova(model, type = "III")</a:t>
            </a:r>
            <a:r>
              <a:rPr/>
              <a:t> to get the ANOVA table.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emmeans()</a:t>
            </a:r>
            <a:r>
              <a:rPr/>
              <a:t> to get adjusted means and pairwise comparisons.</a:t>
            </a:r>
          </a:p>
          <a:p>
            <a:pPr lvl="0"/>
            <a:r>
              <a:rPr b="1"/>
              <a:t>Assumptions</a:t>
            </a:r>
          </a:p>
          <a:p>
            <a:pPr lvl="1"/>
            <a:r>
              <a:rPr/>
              <a:t>Independence of observations</a:t>
            </a:r>
          </a:p>
          <a:p>
            <a:pPr lvl="1"/>
            <a:r>
              <a:rPr/>
              <a:t>Normal distribution of residuals</a:t>
            </a:r>
          </a:p>
          <a:p>
            <a:pPr lvl="1"/>
            <a:r>
              <a:rPr/>
              <a:t>Homogeneity of variances</a:t>
            </a:r>
          </a:p>
          <a:p>
            <a:pPr lvl="1"/>
            <a:r>
              <a:rPr/>
              <a:t>Linearity of relationships within groups</a:t>
            </a:r>
          </a:p>
          <a:p>
            <a:pPr lvl="1"/>
            <a:r>
              <a:rPr/>
              <a:t>Homogeneity of regression slopes (The most important one!)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ANCOVA — Analysis of Covariance</dc:title>
  <dc:creator>Bill Perry</dc:creator>
  <cp:keywords/>
  <dc:description>Analysis of covariance mixing continuous and categorical predictors.</dc:description>
  <dcterms:created xsi:type="dcterms:W3CDTF">2026-07-04T15:21:50Z</dcterms:created>
  <dcterms:modified xsi:type="dcterms:W3CDTF">2026-07-04T15:21:50Z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15</vt:lpwstr>
  </property>
  <property fmtid="{D5CDD505-2E9C-101B-9397-08002B2CF9AE}" pid="14" name="resources">
    <vt:lpwstr/>
  </property>
  <property fmtid="{D5CDD505-2E9C-101B-9397-08002B2CF9AE}" pid="15" name="subtitle">
    <vt:lpwstr>Covariates</vt:lpwstr>
  </property>
  <property fmtid="{D5CDD505-2E9C-101B-9397-08002B2CF9AE}" pid="16" name="toc-title">
    <vt:lpwstr>Table of contents</vt:lpwstr>
  </property>
  <property fmtid="{D5CDD505-2E9C-101B-9397-08002B2CF9AE}" pid="17" name="week">
    <vt:lpwstr>8</vt:lpwstr>
  </property>
</Properties>
</file>