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40" Type="http://schemas.openxmlformats.org/officeDocument/2006/relationships/viewProps" Target="viewProps.xml" /><Relationship Id="rId3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2" Type="http://schemas.openxmlformats.org/officeDocument/2006/relationships/tableStyles" Target="tableStyles.xml" /><Relationship Id="rId4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jp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T-Tests: One, Two, Paired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means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4: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Introduction to histograms or frequency distributions</a:t>
            </a:r>
          </a:p>
          <a:p>
            <a:pPr lvl="0"/>
            <a:r>
              <a:rPr/>
              <a:t>Probability Distribution Functions (PDF)</a:t>
            </a:r>
          </a:p>
          <a:p>
            <a:pPr lvl="1"/>
            <a:r>
              <a:rPr/>
              <a:t>Z scores and T scores</a:t>
            </a:r>
          </a:p>
          <a:p>
            <a:pPr lvl="0"/>
            <a:r>
              <a:rPr/>
              <a:t>Tests of means using T-Tests</a:t>
            </a:r>
          </a:p>
          <a:p>
            <a:pPr lvl="1"/>
            <a:r>
              <a:rPr/>
              <a:t>one sample</a:t>
            </a:r>
          </a:p>
          <a:p>
            <a:pPr lvl="1"/>
            <a:r>
              <a:rPr/>
              <a:t>two sample</a:t>
            </a:r>
          </a:p>
        </p:txBody>
      </p:sp>
      <p:pic>
        <p:nvPicPr>
          <p:cNvPr descr="images/clipboard-5365283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Tests of means using T-Tests</a:t>
            </a:r>
          </a:p>
          <a:p>
            <a:pPr lvl="1"/>
            <a:r>
              <a:rPr/>
              <a:t>one sample - is the sample mean different from a hypothesized mean?</a:t>
            </a:r>
          </a:p>
          <a:p>
            <a:pPr lvl="1"/>
            <a:r>
              <a:rPr/>
              <a:t>two sample - are the sample means from two samples the same or different?</a:t>
            </a:r>
          </a:p>
          <a:p>
            <a:pPr lvl="0"/>
            <a:r>
              <a:rPr/>
              <a:t>for Two sample T-tests the df = n1+ n2 -2 = 8+8-2=14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side  mean_length sd_length se_length count
  &lt;chr&gt;       &lt;dbl&gt;     &lt;dbl&gt;     &lt;dbl&gt; &lt;int&gt;
1 shady        17.6      2.51     0.886     8
2 sunny        16.2      2.64     0.934     8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 Probability and 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goals for today</a:t>
            </a:r>
          </a:p>
          <a:p>
            <a:pPr lvl="0"/>
            <a:r>
              <a:rPr/>
              <a:t>Statistical inference fundamentals</a:t>
            </a:r>
          </a:p>
          <a:p>
            <a:pPr lvl="0"/>
            <a:r>
              <a:rPr/>
              <a:t>Hypothesis testing principles</a:t>
            </a:r>
          </a:p>
          <a:p>
            <a:pPr lvl="0"/>
            <a:r>
              <a:rPr/>
              <a:t>T Distributions</a:t>
            </a:r>
          </a:p>
          <a:p>
            <a:pPr lvl="0"/>
            <a:r>
              <a:rPr/>
              <a:t>One sample T Test</a:t>
            </a:r>
          </a:p>
          <a:p>
            <a:pPr lvl="0"/>
            <a:r>
              <a:rPr/>
              <a:t>Two sample T Test</a:t>
            </a:r>
          </a:p>
          <a:p>
            <a:pPr lvl="0"/>
            <a:r>
              <a:rPr/>
              <a:t>Paired T Test</a:t>
            </a:r>
          </a:p>
          <a:p>
            <a:pPr lvl="0"/>
            <a:r>
              <a:rPr/>
              <a:t>Assumption tests</a:t>
            </a:r>
          </a:p>
        </p:txBody>
      </p:sp>
      <p:pic>
        <p:nvPicPr>
          <p:cNvPr descr="t_tests_files/figure-pptx/l05-0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 Probability and 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goals for today</a:t>
            </a:r>
          </a:p>
          <a:p>
            <a:pPr lvl="0"/>
            <a:r>
              <a:rPr/>
              <a:t>Statistical inference fundamentals</a:t>
            </a:r>
          </a:p>
          <a:p>
            <a:pPr lvl="0"/>
            <a:r>
              <a:rPr/>
              <a:t>Hypothesis testing principles</a:t>
            </a:r>
          </a:p>
          <a:p>
            <a:pPr lvl="0"/>
            <a:r>
              <a:rPr/>
              <a:t>T Distributions</a:t>
            </a:r>
          </a:p>
          <a:p>
            <a:pPr lvl="0"/>
            <a:r>
              <a:rPr/>
              <a:t>One sample T Test</a:t>
            </a:r>
          </a:p>
          <a:p>
            <a:pPr lvl="0"/>
            <a:r>
              <a:rPr/>
              <a:t>Two sample T Test</a:t>
            </a:r>
          </a:p>
          <a:p>
            <a:pPr lvl="0"/>
            <a:r>
              <a:rPr/>
              <a:t>Paired T Test</a:t>
            </a:r>
          </a:p>
        </p:txBody>
      </p:sp>
      <p:pic>
        <p:nvPicPr>
          <p:cNvPr descr="t_tests_files/figure-pptx/l05-0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One-tailed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One-tailed questions: area of distribution left or (right) of a certain value for a one sample test</a:t>
            </a:r>
          </a:p>
          <a:p>
            <a:pPr lvl="0"/>
            <a:r>
              <a:rPr/>
              <a:t>n=8 (df=7) - 95% of the observations found left</a:t>
            </a:r>
          </a:p>
          <a:p>
            <a:pPr lvl="0"/>
            <a:r>
              <a:rPr/>
              <a:t>t= 1.895 (5% are outside)</a:t>
            </a:r>
          </a:p>
        </p:txBody>
      </p:sp>
      <p:pic>
        <p:nvPicPr>
          <p:cNvPr descr="images/clipboard-182246547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701800"/>
            <a:ext cx="44323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clipboard-410316591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1651000"/>
            <a:ext cx="4038600" cy="257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Two-tailed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Two-tailed questions refer to area between certain values</a:t>
            </a:r>
          </a:p>
          <a:p>
            <a:pPr lvl="0"/>
            <a:r>
              <a:rPr/>
              <a:t>n= 8 (df=7), 95% of the observations are between</a:t>
            </a:r>
          </a:p>
          <a:p>
            <a:pPr lvl="0"/>
            <a:r>
              <a:rPr/>
              <a:t>t=-2.365 and t=2.365 (2.5% are outside on each side)</a:t>
            </a:r>
          </a:p>
          <a:p>
            <a:pPr lvl="0"/>
            <a:r>
              <a:rPr/>
              <a:t>One tailed was t= 1.895 (5% are outside)</a:t>
            </a:r>
          </a:p>
        </p:txBody>
      </p:sp>
      <p:pic>
        <p:nvPicPr>
          <p:cNvPr descr="images/clipboard-223474015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651000"/>
            <a:ext cx="4432300" cy="254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clipboard-1746531278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1651000"/>
            <a:ext cx="40386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Calculating CI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Let’s calculate CIs again:</a:t>
                </a:r>
              </a:p>
              <a:p>
                <a:pPr lvl="0" indent="0" marL="0">
                  <a:buNone/>
                </a:pPr>
                <a:r>
                  <a:rPr/>
                  <a:t>Use two-sided test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CI</m:t>
                    </m:r>
                    <m:r>
                      <m:rPr>
                        <m:sty m:val="p"/>
                      </m:rPr>
                      <m:t>=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±</m:t>
                    </m:r>
                    <m:r>
                      <m:t>t</m:t>
                    </m:r>
                    <m:r>
                      <m:rPr>
                        <m:sty m:val="p"/>
                      </m:rPr>
                      <m:t>⋅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/>
                <a:r>
                  <a:rPr/>
                  <a:t>95% CI Sample A: = 17.6 ± 2.365 * (2.51/(8^0.5)) = +/- 2.098746</a:t>
                </a:r>
              </a:p>
              <a:p>
                <a:pPr lvl="0"/>
                <a:r>
                  <a:rPr/>
                  <a:t>The 95% CI is between 15.50 and 19.70</a:t>
                </a:r>
              </a:p>
              <a:p>
                <a:pPr lvl="0"/>
                <a:r>
                  <a:rPr/>
                  <a:t>“The 95% CI for the population mean from sample A is 17.6 ± 2.1</a:t>
                </a:r>
              </a:p>
            </p:txBody>
          </p:sp>
        </mc:Choice>
      </mc:AlternateContent>
      <p:pic>
        <p:nvPicPr>
          <p:cNvPr descr="images/clipboard-174653127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19300"/>
            <a:ext cx="2781300" cy="1765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Applications of t-distribution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So:</a:t>
            </a:r>
          </a:p>
          <a:p>
            <a:pPr lvl="0"/>
            <a:r>
              <a:rPr/>
              <a:t>Can assess confidence that population mean is within a certain range</a:t>
            </a:r>
          </a:p>
          <a:p>
            <a:pPr lvl="0"/>
            <a:r>
              <a:rPr/>
              <a:t>Can use t distribution to ask questions like:</a:t>
            </a:r>
          </a:p>
          <a:p>
            <a:pPr lvl="1"/>
            <a:r>
              <a:rPr/>
              <a:t>“What is probability of getting sample with mean = ȳ</a:t>
            </a:r>
            <a:br/>
            <a:r>
              <a:rPr/>
              <a:t>from population with mean = µ?” (1 sample t-test)</a:t>
            </a:r>
          </a:p>
          <a:p>
            <a:pPr lvl="1"/>
            <a:r>
              <a:rPr/>
              <a:t>“What is the probability that two samples came from</a:t>
            </a:r>
            <a:br/>
            <a:r>
              <a:rPr/>
              <a:t>the same population?” (2 sample t-test)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One 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want to test if the mean needle length on one side differs from 15mm.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Activity: Define hypotheses and identify assumptions</a:t>
            </a:r>
          </a:p>
          <a:p>
            <a:pPr lvl="0" indent="0" marL="0">
              <a:buNone/>
            </a:pPr>
            <a:r>
              <a:rPr/>
              <a:t>H₀: μ = 15 (The mean needle length on shade side is 15mm)</a:t>
            </a:r>
          </a:p>
          <a:p>
            <a:pPr lvl="0" indent="0" marL="0">
              <a:buNone/>
            </a:pPr>
            <a:r>
              <a:rPr/>
              <a:t>H₁: μ ≠ 15 (The mean needle length on shade side is not 240mm)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Assumptions for t-test:</a:t>
            </a:r>
          </a:p>
          <a:p>
            <a:pPr lvl="0" indent="-342900" marL="342900">
              <a:buAutoNum type="arabicPeriod"/>
            </a:pPr>
            <a:r>
              <a:rPr/>
              <a:t>Data is normally distributed</a:t>
            </a:r>
          </a:p>
          <a:p>
            <a:pPr lvl="0" indent="-342900" marL="342900">
              <a:buAutoNum type="arabicPeriod"/>
            </a:pPr>
            <a:r>
              <a:rPr/>
              <a:t>Observations are independent</a:t>
            </a:r>
          </a:p>
          <a:p>
            <a:pPr lvl="0" indent="-342900" marL="342900">
              <a:buAutoNum type="arabicPeriod"/>
            </a:pPr>
            <a:r>
              <a:rPr/>
              <a:t>No significant outliers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in R - qqplots from car</a:t>
            </a:r>
          </a:p>
        </p:txBody>
      </p:sp>
      <p:pic>
        <p:nvPicPr>
          <p:cNvPr descr="t_tests_files/figure-pptx/test_assumption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609600"/>
            <a:ext cx="6350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 8 11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Statistical Test of Normality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Shapiro-Wilk test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ps_df$length_mm
W = 0.92754, p-value = 0.2228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for Outliers</a:t>
            </a:r>
          </a:p>
        </p:txBody>
      </p:sp>
      <p:pic>
        <p:nvPicPr>
          <p:cNvPr descr="t_tests_files/figure-pptx/l05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609600"/>
            <a:ext cx="6350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One-Sample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One-Sample t-Test</a:t>
            </a:r>
          </a:p>
          <a:p>
            <a:pPr lvl="0" indent="0" marL="1270000">
              <a:buNone/>
            </a:pPr>
            <a:r>
              <a:rPr sz="2000"/>
              <a:t>Let’s perform a one-sample t-test to determine if the mean needle length on the shady side differs from 15 mm: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Mean: 17.6 mm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
    One Sample t-test
data:  ps_shady_df$length_mm
t = 2.9414, df = 7, p-value = 0.02167
alternative hypothesis: true mean is not equal to 15
95 percent confidence interval:
 15.51092 19.70030
sample estimates:
mean of x 
 17.60561 </a:t>
            </a:r>
          </a:p>
          <a:p>
            <a:pPr lvl="0" indent="0" marL="1270000">
              <a:buNone/>
            </a:pPr>
            <a:r>
              <a:rPr sz="2000"/>
              <a:t>Interpret this test result by answering these questions:</a:t>
            </a:r>
          </a:p>
          <a:p>
            <a:pPr lvl="0" indent="-342900" marL="342900">
              <a:buAutoNum type="arabicPeriod"/>
            </a:pPr>
            <a:r>
              <a:rPr sz="2000"/>
              <a:t>What was the null hypothesis?</a:t>
            </a:r>
          </a:p>
          <a:p>
            <a:pPr lvl="0" indent="-342900" marL="342900">
              <a:buAutoNum type="arabicPeriod"/>
            </a:pPr>
            <a:r>
              <a:rPr sz="2000"/>
              <a:t>What was the alternative hypothesis?</a:t>
            </a:r>
          </a:p>
          <a:p>
            <a:pPr lvl="0" indent="-342900" marL="342900">
              <a:buAutoNum type="arabicPeriod"/>
            </a:pPr>
            <a:r>
              <a:rPr sz="2000"/>
              <a:t>What does the p-value tell us?</a:t>
            </a:r>
          </a:p>
          <a:p>
            <a:pPr lvl="0" indent="-342900" marL="342900">
              <a:buAutoNum type="arabicPeriod"/>
            </a:pPr>
            <a:r>
              <a:rPr sz="2000"/>
              <a:t>Should we reject or fail to reject the null hypothesis at α = 0.05?</a:t>
            </a:r>
          </a:p>
          <a:p>
            <a:pPr lvl="0" indent="-342900" marL="342900">
              <a:buAutoNum type="arabicPeriod"/>
            </a:pPr>
            <a:r>
              <a:rPr sz="2000"/>
              <a:t>What is the practical interpretation of this result for botanists?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Hypothesis Testing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Hypothesis testing is a systematic way to evaluate research questions using data.</a:t>
            </a:r>
          </a:p>
          <a:p>
            <a:pPr lvl="0" indent="0" marL="0">
              <a:buNone/>
            </a:pPr>
            <a:r>
              <a:rPr b="1"/>
              <a:t>Key components:</a:t>
            </a:r>
          </a:p>
          <a:p>
            <a:pPr lvl="0" indent="-342900" marL="342900">
              <a:buAutoNum type="arabicPeriod"/>
            </a:pPr>
            <a:r>
              <a:rPr b="1"/>
              <a:t>Null hypothesis (Ho)</a:t>
            </a:r>
            <a:r>
              <a:rPr/>
              <a:t>: Typically assumes “no effect” or “no difference”</a:t>
            </a:r>
          </a:p>
          <a:p>
            <a:pPr lvl="0" indent="-342900" marL="342900">
              <a:buAutoNum type="arabicPeriod"/>
            </a:pPr>
            <a:r>
              <a:rPr b="1"/>
              <a:t>Alternative hypothesis (Ha)</a:t>
            </a:r>
            <a:r>
              <a:rPr/>
              <a:t>: The claim we’re trying to support</a:t>
            </a:r>
          </a:p>
          <a:p>
            <a:pPr lvl="0" indent="-342900" marL="342900">
              <a:buAutoNum type="arabicPeriod"/>
            </a:pPr>
            <a:r>
              <a:rPr b="1"/>
              <a:t>Statistical test</a:t>
            </a:r>
            <a:r>
              <a:rPr/>
              <a:t>: Method for evaluating evidence against H₀</a:t>
            </a:r>
          </a:p>
          <a:p>
            <a:pPr lvl="0" indent="-342900" marL="342900">
              <a:buAutoNum type="arabicPeriod"/>
            </a:pPr>
            <a:r>
              <a:rPr b="1"/>
              <a:t>P-value</a:t>
            </a:r>
            <a:r>
              <a:rPr/>
              <a:t>: Probability of observing our results (or more extreme) if H₀ is true</a:t>
            </a:r>
          </a:p>
          <a:p>
            <a:pPr lvl="0" indent="-342900" marL="342900">
              <a:buAutoNum type="arabicPeriod"/>
            </a:pPr>
            <a:r>
              <a:rPr b="1"/>
              <a:t>Significance level (α)</a:t>
            </a:r>
            <a:r>
              <a:rPr/>
              <a:t>: Threshold for rejecting H₀, typically 0.05</a:t>
            </a:r>
          </a:p>
          <a:p>
            <a:pPr lvl="0" indent="0" marL="0">
              <a:buNone/>
            </a:pPr>
            <a:r>
              <a:rPr b="1"/>
              <a:t>Decision rule</a:t>
            </a:r>
            <a:r>
              <a:rPr/>
              <a:t>: Reject Ho if p-value less than α or shorthand p &lt; 0.05</a:t>
            </a:r>
          </a:p>
        </p:txBody>
      </p:sp>
      <p:pic>
        <p:nvPicPr>
          <p:cNvPr descr="t_tests_files/figure-pptx/l05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Hypothesis testing is a systematic way to evaluate research questions using data.</a:t>
            </a:r>
          </a:p>
          <a:p>
            <a:pPr lvl="0" indent="0" marL="0">
              <a:buNone/>
            </a:pPr>
            <a:r>
              <a:rPr b="1"/>
              <a:t>Key components:</a:t>
            </a:r>
          </a:p>
          <a:p>
            <a:pPr lvl="0" indent="-342900" marL="342900">
              <a:buAutoNum type="arabicPeriod"/>
            </a:pPr>
            <a:r>
              <a:rPr b="1"/>
              <a:t>Null hypothesis (H₀)</a:t>
            </a:r>
            <a:r>
              <a:rPr/>
              <a:t>: Typically assumes “no effect” or “no difference”</a:t>
            </a:r>
          </a:p>
          <a:p>
            <a:pPr lvl="0" indent="-342900" marL="342900">
              <a:buAutoNum type="arabicPeriod"/>
            </a:pPr>
            <a:r>
              <a:rPr b="1"/>
              <a:t>Alternative hypothesis (Hₐ)</a:t>
            </a:r>
            <a:r>
              <a:rPr/>
              <a:t>: The claim we’re trying to support</a:t>
            </a:r>
          </a:p>
          <a:p>
            <a:pPr lvl="0" indent="-342900" marL="342900">
              <a:buAutoNum type="arabicPeriod"/>
            </a:pPr>
            <a:r>
              <a:rPr b="1"/>
              <a:t>Statistical test</a:t>
            </a:r>
            <a:r>
              <a:rPr/>
              <a:t>: Method for evaluating evidence against H₀</a:t>
            </a:r>
          </a:p>
          <a:p>
            <a:pPr lvl="0" indent="-342900" marL="342900">
              <a:buAutoNum type="arabicPeriod"/>
            </a:pPr>
            <a:r>
              <a:rPr b="1"/>
              <a:t>P-value</a:t>
            </a:r>
            <a:r>
              <a:rPr/>
              <a:t>: Probability of observing our results (or more extreme) if H₀ is true</a:t>
            </a:r>
          </a:p>
          <a:p>
            <a:pPr lvl="0" indent="-342900" marL="342900">
              <a:buAutoNum type="arabicPeriod"/>
            </a:pPr>
            <a:r>
              <a:rPr b="1"/>
              <a:t>Significance level (α)</a:t>
            </a:r>
            <a:r>
              <a:rPr/>
              <a:t>: Threshold for rejecting H₀, typically 0.05</a:t>
            </a:r>
          </a:p>
          <a:p>
            <a:pPr lvl="0" indent="0" marL="0">
              <a:buNone/>
            </a:pPr>
            <a:r>
              <a:rPr b="1"/>
              <a:t>Decision rule</a:t>
            </a:r>
            <a:r>
              <a:rPr/>
              <a:t>: Reject H₀ if p-value &lt; α</a:t>
            </a:r>
          </a:p>
        </p:txBody>
      </p:sp>
      <p:pic>
        <p:nvPicPr>
          <p:cNvPr descr="t_tests_files/figure-pptx/l05-0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5: Interpreting One-Sample T-Test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Activity: Interpret the t-test results</a:t>
            </a:r>
          </a:p>
          <a:p>
            <a:pPr lvl="0"/>
            <a:r>
              <a:rPr/>
              <a:t>What does the p-value tell us?</a:t>
            </a:r>
          </a:p>
          <a:p>
            <a:pPr lvl="0"/>
            <a:r>
              <a:rPr/>
              <a:t>Should we reject or fail to reject the null hypothesis?</a:t>
            </a:r>
          </a:p>
          <a:p>
            <a:pPr lvl="0" indent="0" marL="0">
              <a:buNone/>
            </a:pPr>
            <a:r>
              <a:rPr b="1"/>
              <a:t>How to report this result in a scientific paper:</a:t>
            </a:r>
          </a:p>
          <a:p>
            <a:pPr lvl="0" indent="0" marL="0">
              <a:buNone/>
            </a:pPr>
            <a:r>
              <a:rPr/>
              <a:t>“A one-sample t-test at α=0.05 showed that the mean needle length (… mm, SD = …) [was/was not] significantly different from the expected 15 mm, t(…) = …, p = …”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Two Sample T-Tests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example</a:t>
            </a:r>
          </a:p>
          <a:p>
            <a:pPr lvl="0"/>
            <a:r>
              <a:rPr/>
              <a:t>what is probability that population X is the same as population Y?</a:t>
            </a:r>
          </a:p>
          <a:p>
            <a:pPr lvl="0"/>
            <a:r>
              <a:rPr/>
              <a:t>How would you assess this question using what we learned?</a:t>
            </a:r>
          </a:p>
          <a:p>
            <a:pPr lvl="0"/>
            <a:r>
              <a:rPr/>
              <a:t>This is what we will do with the needle length again…</a:t>
            </a:r>
          </a:p>
        </p:txBody>
      </p:sp>
      <p:pic>
        <p:nvPicPr>
          <p:cNvPr descr="images/two_branch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Comparing Two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example</a:t>
            </a:r>
          </a:p>
          <a:p>
            <a:pPr lvl="0"/>
            <a:r>
              <a:rPr/>
              <a:t>what is probability that population X is the same as population Y?</a:t>
            </a:r>
          </a:p>
          <a:p>
            <a:pPr lvl="0" indent="0" marL="0">
              <a:buNone/>
            </a:pPr>
            <a:r>
              <a:rPr/>
              <a:t>How would you assess this question using what we learned?</a:t>
            </a:r>
          </a:p>
        </p:txBody>
      </p:sp>
      <p:pic>
        <p:nvPicPr>
          <p:cNvPr descr="t_tests_files/figure-pptx/l05-0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Formulating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Formulating Hypotheses</a:t>
            </a:r>
          </a:p>
          <a:p>
            <a:pPr lvl="0" indent="0" marL="1270000">
              <a:buNone/>
            </a:pPr>
            <a:r>
              <a:rPr sz="2000"/>
              <a:t>For the following research questions about needle lengths write the null and alternative hypotheses:</a:t>
            </a:r>
          </a:p>
          <a:p>
            <a:pPr lvl="0" indent="-342900" marL="342900">
              <a:buAutoNum type="arabicPeriod"/>
            </a:pPr>
            <a:r>
              <a:rPr sz="2000"/>
              <a:t>Are needle lengths on shady and sunny sides different?</a:t>
            </a:r>
          </a:p>
          <a:p>
            <a:pPr lvl="0" indent="0" marL="1270000">
              <a:buNone/>
            </a:pPr>
            <a:r>
              <a:rPr sz="2000"/>
              <a:t>What are the hypotheses?</a:t>
            </a:r>
          </a:p>
          <a:p>
            <a:pPr lvl="0" indent="0" marL="1270000">
              <a:buNone/>
            </a:pPr>
            <a:r>
              <a:rPr sz="2000"/>
              <a:t>Ho =</a:t>
            </a:r>
          </a:p>
          <a:p>
            <a:pPr lvl="0" indent="0" marL="1270000">
              <a:buNone/>
            </a:pPr>
            <a:r>
              <a:rPr sz="2000"/>
              <a:t>Ha =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Two-Sample T-Test Framework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Now, let’s compare needles lengths from the two sides</a:t>
                </a:r>
              </a:p>
              <a:p>
                <a:pPr lvl="0" indent="0" marL="0">
                  <a:buNone/>
                </a:pPr>
                <a:r>
                  <a:rPr/>
                  <a:t>Question: </a:t>
                </a:r>
                <a:r>
                  <a:rPr b="1"/>
                  <a:t>Is there a significant difference in needle length between the sides?</a:t>
                </a:r>
              </a:p>
              <a:p>
                <a:pPr lvl="0" indent="0" marL="0">
                  <a:buNone/>
                </a:pPr>
                <a:r>
                  <a:rPr/>
                  <a:t>This requires a two-sample t-test.</a:t>
                </a:r>
              </a:p>
              <a:p>
                <a:pPr lvl="0" indent="0" marL="0">
                  <a:buNone/>
                </a:pPr>
                <a:r>
                  <a:rPr/>
                  <a:t>Two-sample t-test compares means from two independent groups.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x</m:t>
                                </m:r>
                              </m:e>
                            </m:acc>
                          </m:e>
                          <m:sub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x</m:t>
                                </m:r>
                              </m:e>
                            </m:acc>
                          </m:e>
                          <m:sub>
                            <m: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>S</m:t>
                            </m:r>
                          </m:e>
                          <m:sub>
                            <m:r>
                              <m:t>p</m:t>
                            </m:r>
                          </m:sub>
                        </m:sSub>
                        <m:rad>
                          <m:radPr>
                            <m:degHide m:val="on"/>
                          </m:radPr>
                          <m:deg/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m:t>n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m:t>n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</m:oMath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where:</a:t>
                </a:r>
              </a:p>
              <a:p>
                <a:pPr lvl="0"/>
                <a:r>
                  <a:rPr/>
                  <a:t>x̄₁ and x̄₂: These represent the sample means of the two groups you’re comparing</a:t>
                </a:r>
              </a:p>
              <a:p>
                <a:pPr lvl="0"/>
                <a:r>
                  <a:rPr/>
                  <a:t>s²ₚ: This is the pooled variance, calculated as: s²ₚ = [(n₁ - 1)s₁² + (n₂ - 1)s₂²] / (n₁ + n₂ - 2), where s₁² and s₂² are the sample variances of the two groups.</a:t>
                </a:r>
              </a:p>
              <a:p>
                <a:pPr lvl="0"/>
                <a:r>
                  <a:rPr b="1"/>
                  <a:t>n₁ and n₂:</a:t>
                </a:r>
                <a:r>
                  <a:rPr/>
                  <a:t> These are the sample sizes of the two groups.</a:t>
                </a:r>
              </a:p>
              <a:p>
                <a:pPr lvl="0"/>
                <a:r>
                  <a:rPr b="1"/>
                  <a:t>√(1/n₁ + 1/n₂):</a:t>
                </a:r>
                <a:r>
                  <a:rPr/>
                  <a:t> This represents the pooled standard error.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r>
                          <m:t>I</m:t>
                        </m:r>
                        <m:r>
                          <m:t>G</m:t>
                        </m:r>
                        <m:r>
                          <m:t>N</m:t>
                        </m:r>
                        <m:r>
                          <m:t>A</m:t>
                        </m:r>
                        <m:r>
                          <m:t>L</m:t>
                        </m:r>
                      </m:num>
                      <m:den>
                        <m:r>
                          <m:t>N</m:t>
                        </m:r>
                        <m:r>
                          <m:t>O</m:t>
                        </m:r>
                        <m:r>
                          <m:t>I</m:t>
                        </m:r>
                        <m:r>
                          <m:t>S</m:t>
                        </m:r>
                        <m:r>
                          <m:t>E</m:t>
                        </m:r>
                      </m:den>
                    </m:f>
                  </m:oMath>
                </a14:m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3: Summary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3: Calculate summary statistics grouped by lake</a:t>
            </a:r>
          </a:p>
          <a:p>
            <a:pPr lvl="0" indent="0" marL="1270000">
              <a:buNone/>
            </a:pPr>
            <a:r>
              <a:rPr sz="2000"/>
              <a:t>Before conducting the test, we need to understand the data for each group.</a:t>
            </a:r>
          </a:p>
          <a:p>
            <a:pPr lvl="0" indent="-342900" marL="342900">
              <a:buAutoNum type="arabicPeriod"/>
            </a:pPr>
            <a:r>
              <a:rPr sz="2000"/>
              <a:t>You need this and the graph to see what is going on ….</a:t>
            </a:r>
          </a:p>
          <a:p>
            <a:pPr lvl="1" indent="0">
              <a:buNone/>
            </a:pPr>
            <a:r>
              <a:rPr sz="2000">
                <a:latin typeface="Courier"/>
              </a:rPr>
              <a:t># A tibble: 2 × 5
  side  mean_length sd_length     n se_length
  &lt;chr&gt;       &lt;dbl&gt;     &lt;dbl&gt; &lt;int&gt;     &lt;dbl&gt;
1 shady        17.6      2.51     8     0.886
2 sunny        16.2      2.64     8     0.934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4: Effect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Effect size</a:t>
            </a:r>
          </a:p>
          <a:p>
            <a:pPr lvl="0" indent="0" marL="1270000">
              <a:buNone/>
            </a:pPr>
            <a:r>
              <a:rPr sz="2000"/>
              <a:t>We could also look at the difference in means… some cool code here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1 × 1
  difference
       &lt;dbl&gt;
1       1.45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5: ggplot Summary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5: Using GGPLOT to get summary plot</a:t>
            </a:r>
          </a:p>
          <a:p>
            <a:pPr lvl="0" indent="0" marL="1270000">
              <a:buNone/>
            </a:pPr>
            <a:r>
              <a:rPr sz="2000"/>
              <a:t>GGplot also has code to make the mean and standard error plots we are interested in along with a lot of others</a:t>
            </a:r>
          </a:p>
          <a:p>
            <a:pPr lvl="0" indent="0" marL="1270000">
              <a:buNone/>
            </a:pP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Testing Assumptions for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two-sample t-test, we need to check:</a:t>
            </a:r>
          </a:p>
          <a:p>
            <a:pPr lvl="0" indent="-342900" marL="342900">
              <a:buAutoNum type="arabicPeriod"/>
            </a:pPr>
            <a:r>
              <a:rPr/>
              <a:t>Normality within each group</a:t>
            </a:r>
          </a:p>
          <a:p>
            <a:pPr lvl="0" indent="-342900" marL="342900">
              <a:buAutoNum type="arabicPeriod"/>
            </a:pPr>
            <a:r>
              <a:rPr/>
              <a:t>Equal variances between groups (for standard t-test)</a:t>
            </a:r>
          </a:p>
          <a:p>
            <a:pPr lvl="0" indent="-342900" marL="342900">
              <a:buAutoNum type="arabicPeriod"/>
            </a:pPr>
            <a:r>
              <a:rPr/>
              <a:t>Independent observations</a:t>
            </a:r>
          </a:p>
          <a:p>
            <a:pPr lvl="0" indent="0" marL="0">
              <a:buNone/>
            </a:pPr>
            <a:r>
              <a:rPr/>
              <a:t>If assumptions are violated:</a:t>
            </a:r>
          </a:p>
          <a:p>
            <a:pPr lvl="0"/>
            <a:r>
              <a:rPr/>
              <a:t>Welch’s t-test (unequal variances)</a:t>
            </a:r>
          </a:p>
          <a:p>
            <a:pPr lvl="0"/>
            <a:r>
              <a:rPr/>
              <a:t>Non-parametric alternatives (Mann-Whitney U test)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6: Separate Group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7: Test normality of sunny pine needle lengths</a:t>
            </a:r>
          </a:p>
          <a:p>
            <a:pPr lvl="0" indent="0" marL="1270000">
              <a:buNone/>
            </a:pPr>
            <a:r>
              <a:rPr sz="2000"/>
              <a:t>Note you need to test each groups separately…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6 × 5
# Groups:   group, tree_no, tree_char [6]
  group                      tree_no tree_char side  length_mm
  &lt;chr&gt;                        &lt;dbl&gt; &lt;chr&gt;     &lt;chr&gt;     &lt;dbl&gt;
1 big_fat_fecund_female_fish       2 tree_2    shady      15.4
2 bill                             3 tree_3    shady      16.7
3 ciabatta                         5 tree_5    shady      19.1
4 fake_data                        8 tree_8    shady      17.4
5 five                             1 tree_1    shady      20.3
6 moose_walkin                     7 tree_7    shady      20.7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6 × 5
# Groups:   group, tree_no, tree_char [6]
  group                      tree_no tree_char side  length_mm
  &lt;chr&gt;                        &lt;dbl&gt; &lt;chr&gt;     &lt;chr&gt;     &lt;dbl&gt;
1 big_fat_fecund_female_fish       2 tree_2    sunny      13.2
2 bill                             3 tree_3    sunny      16.0
3 ciabatta                         5 tree_5    sunny      17.7
4 fake_data                        8 tree_8    sunny      13.0
5 five                             1 tree_1    sunny      19.9
6 moose_walkin                     7 tree_7    sunny      18.4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8: Combined Normality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8: Test Normality at one time</a:t>
            </a:r>
          </a:p>
          <a:p>
            <a:pPr lvl="0" indent="0" marL="1270000">
              <a:buNone/>
            </a:pPr>
            <a:r>
              <a:rPr sz="2000"/>
              <a:t>There are always a lot of ways to do this in R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2 × 4
  side  shapiro_stat shapiro_p_value normal_distribution
  &lt;chr&gt;        &lt;dbl&gt;           &lt;dbl&gt; &lt;chr&gt;              
1 shady        0.966           0.868 Normal             
2 sunny        0.900           0.289 Normal             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13: Test Equal Variances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13: Test equal variances</a:t>
            </a:r>
          </a:p>
          <a:p>
            <a:pPr lvl="0" indent="0" marL="1270000">
              <a:buNone/>
            </a:pPr>
            <a:r>
              <a:rPr sz="2000"/>
              <a:t>Levenes test can be done on the original dataframe</a:t>
            </a:r>
          </a:p>
          <a:p>
            <a:pPr lvl="0" indent="0" marL="1270000">
              <a:buNone/>
            </a:pPr>
            <a:r>
              <a:rPr sz="2000" b="1"/>
              <a:t>Note: the Levenes Test should be NOT SIGNIFICANT - What is the null hypothesis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[1] "Levene's Test for Homogeneity of Variance:"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Levene's Test for Homogeneity of Variance (center = median)
      Df F value Pr(&gt;F)
group  1  0.2062 0.6567
      14               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Conducting the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we can compare the mean needle lengths between shady and sunny sides.</a:t>
            </a:r>
          </a:p>
          <a:p>
            <a:pPr lvl="0" indent="0" marL="0">
              <a:buNone/>
            </a:pPr>
            <a:r>
              <a:rPr/>
              <a:t>Ho: μ₁ = μ₂ (The needle lengths do not differ)</a:t>
            </a:r>
          </a:p>
          <a:p>
            <a:pPr lvl="0" indent="0" marL="0">
              <a:buNone/>
            </a:pPr>
            <a:r>
              <a:rPr/>
              <a:t>Ha: μ₁ ≠ μ₂ (The mean needle lengths differ - direction is not specified)</a:t>
            </a:r>
          </a:p>
          <a:p>
            <a:pPr lvl="0" indent="0" marL="0">
              <a:buNone/>
            </a:pPr>
            <a:r>
              <a:rPr/>
              <a:t>Calculate t-statistic manually (optional) - YOUR CODE HERE:</a:t>
            </a:r>
          </a:p>
          <a:p>
            <a:pPr lvl="0" indent="0" marL="0">
              <a:buNone/>
            </a:pPr>
            <a:r>
              <a:rPr/>
              <a:t>t = (mean1 - mean2) / sqrt((s1^2/n1) + (s2^2/n2))</a:t>
            </a:r>
          </a:p>
          <a:p>
            <a:pPr lvl="0" indent="0" marL="0">
              <a:buNone/>
            </a:pPr>
            <a:r>
              <a:rPr/>
              <a:t>Deciding between:</a:t>
            </a:r>
          </a:p>
          <a:p>
            <a:pPr lvl="0"/>
            <a:r>
              <a:rPr b="1"/>
              <a:t>Standard t-test (equal variances)</a:t>
            </a:r>
          </a:p>
          <a:p>
            <a:pPr lvl="0"/>
            <a:r>
              <a:rPr/>
              <a:t>Welch’s t-test (unequal variances)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"Standard two-sample t-test:"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Two Sample t-test
data:  length_mm by side
t = 1.1279, df = 14, p-value = 0.2783
alternative hypothesis: true difference in means between group shady and group sunny is not equal to 0
95 percent confidence interval:
 -1.309330  4.214005
sample estimates:
mean in group shady mean in group sunny 
           17.60561            16.15328 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Conducting the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we can compare the mean needle lengths between shady and sunny sides.</a:t>
            </a:r>
          </a:p>
          <a:p>
            <a:pPr lvl="0" indent="0" marL="0">
              <a:buNone/>
            </a:pPr>
            <a:r>
              <a:rPr/>
              <a:t>Ho: μ₁ = μ₂ (The needle lengths do not differ)</a:t>
            </a:r>
          </a:p>
          <a:p>
            <a:pPr lvl="0" indent="0" marL="0">
              <a:buNone/>
            </a:pPr>
            <a:r>
              <a:rPr/>
              <a:t>Ha: μ₁ ≠ μ₂ (The mean needle lengths differ - direction is not specified)</a:t>
            </a:r>
          </a:p>
          <a:p>
            <a:pPr lvl="0" indent="0" marL="0">
              <a:buNone/>
            </a:pPr>
            <a:r>
              <a:rPr/>
              <a:t>Calculate t-statistic manually (optional) - YOUR CODE HERE:</a:t>
            </a:r>
          </a:p>
          <a:p>
            <a:pPr lvl="0" indent="0" marL="0">
              <a:buNone/>
            </a:pPr>
            <a:r>
              <a:rPr/>
              <a:t>t = (mean1 - mean2) / sqrt((s1^2/n1) + (s2^2/n2))</a:t>
            </a:r>
          </a:p>
          <a:p>
            <a:pPr lvl="0" indent="0" marL="0">
              <a:buNone/>
            </a:pPr>
            <a:r>
              <a:rPr/>
              <a:t>Deciding between:</a:t>
            </a:r>
          </a:p>
          <a:p>
            <a:pPr lvl="0"/>
            <a:r>
              <a:rPr/>
              <a:t>Standard t-test (equal variances)</a:t>
            </a:r>
          </a:p>
          <a:p>
            <a:pPr lvl="0"/>
            <a:r>
              <a:rPr b="1"/>
              <a:t>Welches t-test (unequal variances)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"Welches two-sample t-test:"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length_mm by side
t = 1.1279, df = 13.96, p-value = 0.2784
alternative hypothesis: true difference in means between group shady and group sunny is not equal to 0
95 percent confidence interval:
 -1.310069  4.214743
sample estimates:
mean in group shady mean in group sunny 
           17.60561            16.15328 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Difference between a Two-Sample T and Welch’s 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Standard t-test (Student’s t-test)</a:t>
            </a:r>
          </a:p>
          <a:p>
            <a:pPr lvl="0"/>
            <a:r>
              <a:rPr b="1"/>
              <a:t>Assumes equal variances</a:t>
            </a:r>
            <a:r>
              <a:rPr/>
              <a:t> between the two groups being compared</a:t>
            </a:r>
          </a:p>
          <a:p>
            <a:pPr lvl="0"/>
            <a:r>
              <a:rPr/>
              <a:t>Uses a </a:t>
            </a:r>
            <a:r>
              <a:rPr b="1"/>
              <a:t>pooled variance estimate</a:t>
            </a:r>
            <a:r>
              <a:rPr/>
              <a:t> that combines data from both group</a:t>
            </a:r>
          </a:p>
          <a:p>
            <a:pPr lvl="0"/>
            <a:r>
              <a:rPr/>
              <a:t>Has </a:t>
            </a:r>
            <a:r>
              <a:rPr b="1"/>
              <a:t>higher statistical power</a:t>
            </a:r>
            <a:r>
              <a:rPr/>
              <a:t> when the equal variance assumption is met</a:t>
            </a:r>
          </a:p>
          <a:p>
            <a:pPr lvl="0"/>
            <a:r>
              <a:rPr b="1"/>
              <a:t>Degrees of freedom</a:t>
            </a:r>
            <a:r>
              <a:rPr/>
              <a:t> = n₁ + n₂ - 2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Welch’s t-test</a:t>
            </a:r>
          </a:p>
          <a:p>
            <a:pPr lvl="0"/>
            <a:r>
              <a:rPr b="1"/>
              <a:t>Does not assume equal variances</a:t>
            </a:r>
            <a:r>
              <a:rPr/>
              <a:t> between groups (also called the “unequal variances t-test”)</a:t>
            </a:r>
          </a:p>
          <a:p>
            <a:pPr lvl="0"/>
            <a:r>
              <a:rPr/>
              <a:t>Uses </a:t>
            </a:r>
            <a:r>
              <a:rPr b="1"/>
              <a:t>separate variance estimates</a:t>
            </a:r>
            <a:r>
              <a:rPr/>
              <a:t> for each group</a:t>
            </a:r>
          </a:p>
          <a:p>
            <a:pPr lvl="0"/>
            <a:r>
              <a:rPr/>
              <a:t>More </a:t>
            </a:r>
            <a:r>
              <a:rPr b="1"/>
              <a:t>robust</a:t>
            </a:r>
            <a:r>
              <a:rPr/>
              <a:t> when group variances are different</a:t>
            </a:r>
          </a:p>
          <a:p>
            <a:pPr lvl="0"/>
            <a:r>
              <a:rPr/>
              <a:t>Uses a more complex </a:t>
            </a:r>
            <a:r>
              <a:rPr b="1"/>
              <a:t>degrees of freedom calculation</a:t>
            </a:r>
            <a:r>
              <a:rPr/>
              <a:t> (</a:t>
            </a:r>
            <a:r>
              <a:rPr b="1"/>
              <a:t>Welch-Satterthwaite equation</a:t>
            </a:r>
            <a:r>
              <a:rPr/>
              <a:t>) and decimal!!!</a:t>
            </a:r>
          </a:p>
          <a:p>
            <a:pPr lvl="0"/>
            <a:r>
              <a:rPr b="1"/>
              <a:t>Degrees of freedom</a:t>
            </a:r>
            <a:r>
              <a:rPr/>
              <a:t> are typically non-integer and usually smaller than the standard t-test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Interpreting Two-Sample T-Test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Interpret the results of the two-sample t-test</a:t>
            </a:r>
          </a:p>
          <a:p>
            <a:pPr lvl="0" indent="0" marL="0">
              <a:buNone/>
            </a:pPr>
            <a:r>
              <a:rPr/>
              <a:t>What can we conclude about the needle lengths on sunny vs shady sides?</a:t>
            </a:r>
          </a:p>
          <a:p>
            <a:pPr lvl="0" indent="0" marL="0">
              <a:buNone/>
            </a:pPr>
            <a:r>
              <a:rPr b="1"/>
              <a:t>How to report this result in a scientific paper:</a:t>
            </a:r>
          </a:p>
          <a:p>
            <a:pPr lvl="0" indent="0" marL="0">
              <a:buNone/>
            </a:pPr>
            <a:r>
              <a:rPr/>
              <a:t>“A two-tailed, two-sample t-test at α=0.05 showed [a significant/no significant] difference in needle length between sunny (M = …, SD = …) and shady (M = …, SD = …) sides of pine trees, t(…) = …, p = ….”</a:t>
            </a:r>
          </a:p>
        </p:txBody>
      </p:sp>
      <p:pic>
        <p:nvPicPr>
          <p:cNvPr descr="t_tests_files/figure-pptx/l05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Now what does a paired T test tell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Paired t-test:</a:t>
            </a:r>
          </a:p>
          <a:p>
            <a:pPr lvl="0" indent="0" marL="0">
              <a:buNone/>
            </a:pPr>
            <a:r>
              <a:rPr/>
              <a:t>Compares two measurements from the same subjects or matched pairs Tests whether the mean difference between paired observations equals zero Examples: before/after measurements on the same people, left vs right measurements, matched case-control studies Uses the differences between pairs as the data points Generally more powerful because it controls for individual variation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"Standard two-sample t-test:"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Paired t-test
data:  ps_wide_df$sunny and ps_wide_df$shady
t = -2.7818, df = 7, p-value = 0.02723
alternative hypothesis: true mean difference is not equal to 0
95 percent confidence interval:
 -2.6868652 -0.2178092
sample estimates:
mean difference 
      -1.452337 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5: What is going on??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that thee is a lot of variation within trees but the trend is the same</a:t>
            </a:r>
          </a:p>
        </p:txBody>
      </p:sp>
      <p:pic>
        <p:nvPicPr>
          <p:cNvPr descr="t_tests_files/figure-pptx/l05-1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Assumptions of Parametric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Common assumptions for t-tests:</a:t>
            </a:r>
          </a:p>
          <a:p>
            <a:pPr lvl="0" indent="-342900" marL="342900">
              <a:buAutoNum type="arabicPeriod"/>
            </a:pPr>
            <a:r>
              <a:rPr/>
              <a:t>Normality: Data comes from normally distributed populations</a:t>
            </a:r>
          </a:p>
          <a:p>
            <a:pPr lvl="0" indent="-342900" marL="342900">
              <a:buAutoNum type="arabicPeriod"/>
            </a:pPr>
            <a:r>
              <a:rPr/>
              <a:t>Equal variances (for two-sample tests)</a:t>
            </a:r>
          </a:p>
          <a:p>
            <a:pPr lvl="0" indent="-342900" marL="342900">
              <a:buAutoNum type="arabicPeriod"/>
            </a:pPr>
            <a:r>
              <a:rPr/>
              <a:t>Independence: Observations are independent</a:t>
            </a:r>
          </a:p>
          <a:p>
            <a:pPr lvl="0" indent="-342900" marL="342900">
              <a:buAutoNum type="arabicPeriod"/>
            </a:pPr>
            <a:r>
              <a:rPr/>
              <a:t>No outliers: Extreme values can influence results</a:t>
            </a:r>
          </a:p>
          <a:p>
            <a:pPr lvl="0" indent="0" marL="0">
              <a:buNone/>
            </a:pPr>
            <a:r>
              <a:rPr/>
              <a:t>What can we do if our data violates these assumptions?</a:t>
            </a:r>
          </a:p>
          <a:p>
            <a:pPr lvl="0" indent="0" marL="0">
              <a:buNone/>
            </a:pPr>
            <a:r>
              <a:rPr/>
              <a:t>Alternatives when assumptions are violated:</a:t>
            </a:r>
          </a:p>
          <a:p>
            <a:pPr lvl="0"/>
            <a:r>
              <a:rPr/>
              <a:t>Data transformation (log, square root, etc.)</a:t>
            </a:r>
          </a:p>
          <a:p>
            <a:pPr lvl="0"/>
            <a:r>
              <a:rPr/>
              <a:t>Non-parametric tests</a:t>
            </a:r>
          </a:p>
          <a:p>
            <a:pPr lvl="0"/>
            <a:r>
              <a:rPr/>
              <a:t>Robust statistical methods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Summary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activity, we’ve:</a:t>
            </a:r>
          </a:p>
          <a:p>
            <a:pPr lvl="0" indent="-342900" marL="342900">
              <a:buAutoNum type="arabicPeriod"/>
            </a:pPr>
            <a:r>
              <a:rPr/>
              <a:t>Formulated hypotheses about pine needle length</a:t>
            </a:r>
          </a:p>
          <a:p>
            <a:pPr lvl="0" indent="-342900" marL="342900">
              <a:buAutoNum type="arabicPeriod"/>
            </a:pPr>
            <a:r>
              <a:rPr/>
              <a:t>Tested assumptions for parametric tests</a:t>
            </a:r>
          </a:p>
          <a:p>
            <a:pPr lvl="0" indent="-342900" marL="342900">
              <a:buAutoNum type="arabicPeriod"/>
            </a:pPr>
            <a:r>
              <a:rPr/>
              <a:t>Conducted one-sample and two-sample t-tests</a:t>
            </a:r>
          </a:p>
          <a:p>
            <a:pPr lvl="0" indent="-342900" marL="342900">
              <a:buAutoNum type="arabicPeriod"/>
            </a:pPr>
            <a:r>
              <a:rPr/>
              <a:t>Visualized data using appropriate methods</a:t>
            </a:r>
          </a:p>
          <a:p>
            <a:pPr lvl="0" indent="-342900" marL="342900">
              <a:buAutoNum type="arabicPeriod"/>
            </a:pPr>
            <a:r>
              <a:rPr/>
              <a:t>Learned how to interpret and report t-test results</a:t>
            </a:r>
          </a:p>
          <a:p>
            <a:pPr lvl="0" indent="0" marL="0">
              <a:buNone/>
            </a:pPr>
            <a:r>
              <a:rPr b="1"/>
              <a:t>Key takeaways:</a:t>
            </a:r>
          </a:p>
          <a:p>
            <a:pPr lvl="0"/>
            <a:r>
              <a:rPr/>
              <a:t>Always check assumptions before conducting tests</a:t>
            </a:r>
          </a:p>
          <a:p>
            <a:pPr lvl="0"/>
            <a:r>
              <a:rPr/>
              <a:t>Visualize your data to understand patterns</a:t>
            </a:r>
          </a:p>
          <a:p>
            <a:pPr lvl="0"/>
            <a:r>
              <a:rPr/>
              <a:t>Report results comprehensively</a:t>
            </a:r>
          </a:p>
          <a:p>
            <a:pPr lvl="0"/>
            <a:r>
              <a:rPr/>
              <a:t>Consider alternatives when assumptions are violated - non parametric tests…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T-Tests: One, Two, Paired</dc:title>
  <dc:creator>Bill Perry</dc:creator>
  <cp:keywords/>
  <dc:description>One-sample, two-sample, and paired t-tests.</dc:description>
  <dcterms:created xsi:type="dcterms:W3CDTF">2026-07-04T15:22:34Z</dcterms:created>
  <dcterms:modified xsi:type="dcterms:W3CDTF">2026-07-04T15:22:34Z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5</vt:lpwstr>
  </property>
  <property fmtid="{D5CDD505-2E9C-101B-9397-08002B2CF9AE}" pid="12" name="resources">
    <vt:lpwstr/>
  </property>
  <property fmtid="{D5CDD505-2E9C-101B-9397-08002B2CF9AE}" pid="13" name="subtitle">
    <vt:lpwstr>Comparing means</vt:lpwstr>
  </property>
  <property fmtid="{D5CDD505-2E9C-101B-9397-08002B2CF9AE}" pid="14" name="toc-title">
    <vt:lpwstr>Table of contents</vt:lpwstr>
  </property>
  <property fmtid="{D5CDD505-2E9C-101B-9397-08002B2CF9AE}" pid="15" name="week">
    <vt:lpwstr>3</vt:lpwstr>
  </property>
</Properties>
</file>