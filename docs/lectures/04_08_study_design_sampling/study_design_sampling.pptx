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Study Design &amp; Sampling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Designing studies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7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What are the assumptions again and how do you assess them</a:t>
            </a:r>
          </a:p>
          <a:p>
            <a:pPr lvl="0"/>
            <a:r>
              <a:rPr/>
              <a:t>What to do when assumptions fail</a:t>
            </a:r>
          </a:p>
          <a:p>
            <a:pPr lvl="1"/>
            <a:r>
              <a:rPr/>
              <a:t>Mann Whitney Wilcoxin Rank Sum test</a:t>
            </a:r>
          </a:p>
          <a:p>
            <a:pPr lvl="1"/>
            <a:r>
              <a:rPr/>
              <a:t>Permutation tests</a:t>
            </a:r>
          </a:p>
          <a:p>
            <a:pPr lvl="1"/>
            <a:r>
              <a:rPr/>
              <a:t>There is a paired Wilcoxin Sign test</a:t>
            </a:r>
          </a:p>
          <a:p>
            <a:pPr lvl="2"/>
            <a:r>
              <a:rPr/>
              <a:t>this does if it is a + 0 or - in the pair and uses that info to do the test… possible but not very powerful or widely used</a:t>
            </a:r>
          </a:p>
        </p:txBody>
      </p:sp>
      <p:pic>
        <p:nvPicPr>
          <p:cNvPr descr="images/clipboard-371254216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41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8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we’ll cover: Chapter 1 in Whitlock and Schluter</a:t>
            </a:r>
          </a:p>
          <a:p>
            <a:pPr lvl="0"/>
            <a:r>
              <a:rPr/>
              <a:t>Study design</a:t>
            </a:r>
          </a:p>
          <a:p>
            <a:pPr lvl="0"/>
            <a:r>
              <a:rPr/>
              <a:t>Causality in ecology</a:t>
            </a:r>
          </a:p>
          <a:p>
            <a:pPr lvl="0"/>
            <a:r>
              <a:rPr/>
              <a:t>Experimental design:</a:t>
            </a:r>
          </a:p>
          <a:p>
            <a:pPr lvl="1"/>
            <a:r>
              <a:rPr/>
              <a:t>Replication, controls, randomization, independence</a:t>
            </a:r>
          </a:p>
          <a:p>
            <a:pPr lvl="0"/>
            <a:r>
              <a:rPr/>
              <a:t>Sampling in field studies</a:t>
            </a:r>
          </a:p>
          <a:p>
            <a:pPr lvl="0"/>
            <a:r>
              <a:rPr/>
              <a:t>Power analysis: </a:t>
            </a:r>
            <a:r>
              <a:rPr i="1"/>
              <a:t>a priori</a:t>
            </a:r>
            <a:r>
              <a:rPr/>
              <a:t> and </a:t>
            </a:r>
            <a:r>
              <a:rPr i="1"/>
              <a:t>post hoc</a:t>
            </a:r>
          </a:p>
          <a:p>
            <a:pPr lvl="0"/>
            <a:r>
              <a:rPr/>
              <a:t>Study design and analysis</a:t>
            </a:r>
          </a:p>
        </p:txBody>
      </p:sp>
      <p:pic>
        <p:nvPicPr>
          <p:cNvPr descr="images/clipboard-143241449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0700" y="1270000"/>
            <a:ext cx="36449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163893259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485900"/>
            <a:ext cx="403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Lamberti and Resh 1983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Study Design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Data analysis has close links to study design</a:t>
            </a:r>
          </a:p>
          <a:p>
            <a:pPr lvl="0"/>
            <a:r>
              <a:rPr/>
              <a:t>Statistics cannot save a poorly designed study!</a:t>
            </a:r>
          </a:p>
          <a:p>
            <a:pPr lvl="0"/>
            <a:r>
              <a:rPr/>
              <a:t>Key question: </a:t>
            </a:r>
            <a:r>
              <a:rPr b="1"/>
              <a:t>what is your research question?</a:t>
            </a:r>
          </a:p>
          <a:p>
            <a:pPr lvl="0" indent="0" marL="0">
              <a:buNone/>
            </a:pPr>
            <a:r>
              <a:rPr/>
              <a:t>Common scientific questions:</a:t>
            </a:r>
          </a:p>
          <a:p>
            <a:pPr lvl="0"/>
            <a:r>
              <a:rPr/>
              <a:t>Spatial/temporal patterns in variable Y?</a:t>
            </a:r>
          </a:p>
          <a:p>
            <a:pPr lvl="1"/>
            <a:r>
              <a:rPr/>
              <a:t>what are the problems with this data?</a:t>
            </a:r>
          </a:p>
          <a:p>
            <a:pPr lvl="0"/>
            <a:r>
              <a:rPr/>
              <a:t>Effect of factor X on variable Y?</a:t>
            </a:r>
          </a:p>
          <a:p>
            <a:pPr lvl="1"/>
            <a:r>
              <a:rPr/>
              <a:t>what should you be worried about and how to fix?</a:t>
            </a:r>
          </a:p>
          <a:p>
            <a:pPr lvl="0"/>
            <a:r>
              <a:rPr/>
              <a:t>Are values of variable Y consistent with hypothesis H?</a:t>
            </a:r>
          </a:p>
          <a:p>
            <a:pPr lvl="0"/>
            <a:r>
              <a:rPr/>
              <a:t>What is the best estimate of parameter θ (some parameter)?</a:t>
            </a:r>
          </a:p>
        </p:txBody>
      </p:sp>
      <p:pic>
        <p:nvPicPr>
          <p:cNvPr descr="images/clipboard-230033469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9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Causality in Ecology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Common question: what is the </a:t>
            </a:r>
            <a:r>
              <a:rPr b="1"/>
              <a:t>cause</a:t>
            </a:r>
            <a:r>
              <a:rPr/>
              <a:t> of Y?</a:t>
            </a:r>
          </a:p>
          <a:p>
            <a:pPr lvl="0"/>
            <a:r>
              <a:rPr/>
              <a:t>Causality is challenging; modern statistics lacks clear language for causality</a:t>
            </a:r>
          </a:p>
          <a:p>
            <a:pPr lvl="0"/>
            <a:r>
              <a:rPr/>
              <a:t>Strength of causal inference varies with study design!</a:t>
            </a:r>
          </a:p>
          <a:p>
            <a:pPr lvl="0"/>
            <a:r>
              <a:rPr/>
              <a:t>Key factor: control of confounding variables, non independence and correlated varaibles</a:t>
            </a:r>
          </a:p>
        </p:txBody>
      </p:sp>
      <p:pic>
        <p:nvPicPr>
          <p:cNvPr descr="images/clipboard-98193846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333500"/>
            <a:ext cx="27813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Causality in Ecology -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Common question: what is the </a:t>
            </a:r>
            <a:r>
              <a:rPr b="1"/>
              <a:t>cause</a:t>
            </a:r>
            <a:r>
              <a:rPr/>
              <a:t> of Y?</a:t>
            </a:r>
          </a:p>
          <a:p>
            <a:pPr lvl="0"/>
            <a:r>
              <a:rPr/>
              <a:t>Causality is challenging; modern statistics lacks clear language for causality</a:t>
            </a:r>
          </a:p>
          <a:p>
            <a:pPr lvl="0"/>
            <a:r>
              <a:rPr/>
              <a:t>Strength of causal inference varies with study design</a:t>
            </a:r>
          </a:p>
          <a:p>
            <a:pPr lvl="0"/>
            <a:r>
              <a:rPr/>
              <a:t>Key factor: control of confounding variables, non independence and correlated varaibles</a:t>
            </a:r>
          </a:p>
        </p:txBody>
      </p:sp>
      <p:pic>
        <p:nvPicPr>
          <p:cNvPr descr="images/clipboard-7335229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Causality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Example:</a:t>
            </a:r>
            <a:r>
              <a:rPr/>
              <a:t> Spider and lizard populations on small islands</a:t>
            </a:r>
          </a:p>
          <a:p>
            <a:pPr lvl="0" indent="0" marL="0">
              <a:buNone/>
            </a:pPr>
            <a:r>
              <a:rPr b="1"/>
              <a:t>Hypothesis:</a:t>
            </a:r>
            <a:r>
              <a:rPr/>
              <a:t> On small islands, lizard predation controls spider density</a:t>
            </a:r>
          </a:p>
          <a:p>
            <a:pPr lvl="0" indent="0" marL="0">
              <a:buNone/>
            </a:pPr>
            <a:r>
              <a:rPr/>
              <a:t>We’re interested in causality. How do we get there?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type of experiment is this?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are the potential problems with testing this hypothesis?</a:t>
            </a:r>
          </a:p>
        </p:txBody>
      </p:sp>
      <p:pic>
        <p:nvPicPr>
          <p:cNvPr descr="images/clipboard-26015756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578600" y="660400"/>
            <a:ext cx="18669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Natural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Not really experiments at all!</a:t>
            </a:r>
          </a:p>
          <a:p>
            <a:pPr lvl="0"/>
            <a:r>
              <a:rPr/>
              <a:t>Utilizes natural variation in predictor variable</a:t>
            </a:r>
          </a:p>
          <a:p>
            <a:pPr lvl="0"/>
            <a:r>
              <a:rPr/>
              <a:t>E.g., survey plots across natural gradient of lizard density</a:t>
            </a:r>
          </a:p>
          <a:p>
            <a:pPr lvl="0" indent="0" marL="0">
              <a:buNone/>
            </a:pPr>
            <a:r>
              <a:rPr b="1"/>
              <a:t>Potential Problems:</a:t>
            </a:r>
          </a:p>
          <a:p>
            <a:pPr lvl="0"/>
            <a:r>
              <a:rPr/>
              <a:t>Cannot determine direction of cause ↔ effect relationship</a:t>
            </a:r>
          </a:p>
          <a:p>
            <a:pPr lvl="0"/>
            <a:r>
              <a:rPr/>
              <a:t>Uncontrolled variables may affect results</a:t>
            </a:r>
          </a:p>
        </p:txBody>
      </p:sp>
      <p:pic>
        <p:nvPicPr>
          <p:cNvPr descr="images/clipboard-19455755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41500"/>
            <a:ext cx="2781300" cy="212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Strengthening Natural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design:</a:t>
            </a:r>
            <a:r>
              <a:rPr/>
              <a:t> Stronger inference from natural experiments</a:t>
            </a:r>
          </a:p>
          <a:p>
            <a:pPr lvl="0"/>
            <a:r>
              <a:rPr/>
              <a:t>Reduce confounding (select plots similar in relevant ways)</a:t>
            </a:r>
          </a:p>
          <a:p>
            <a:pPr lvl="0"/>
            <a:r>
              <a:rPr/>
              <a:t>Adjust for confounding (measure relevant covariates)</a:t>
            </a:r>
          </a:p>
          <a:p>
            <a:pPr lvl="0"/>
            <a:r>
              <a:rPr/>
              <a:t>Identify and measure potential confounding variables</a:t>
            </a:r>
          </a:p>
        </p:txBody>
      </p:sp>
      <p:pic>
        <p:nvPicPr>
          <p:cNvPr descr="images/clipboard-393986126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066800"/>
            <a:ext cx="2781300" cy="364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Manipulative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Experimenter directly manipulates predictor variable and measures response</a:t>
            </a:r>
          </a:p>
          <a:p>
            <a:pPr lvl="0" indent="0" marL="0">
              <a:buNone/>
            </a:pPr>
            <a:r>
              <a:rPr/>
              <a:t>Randomized, controlled trials: gold standard</a:t>
            </a:r>
          </a:p>
          <a:p>
            <a:pPr lvl="0" indent="0" marL="0">
              <a:buNone/>
            </a:pPr>
            <a:r>
              <a:rPr b="1"/>
              <a:t>Challenges:</a:t>
            </a:r>
          </a:p>
          <a:p>
            <a:pPr lvl="0"/>
            <a:r>
              <a:rPr/>
              <a:t>Often restricted to small “plots”; scale-replication trade-off</a:t>
            </a:r>
          </a:p>
          <a:p>
            <a:pPr lvl="0"/>
            <a:r>
              <a:rPr/>
              <a:t>Often restricted to small, short-lived organisms</a:t>
            </a:r>
          </a:p>
          <a:p>
            <a:pPr lvl="0"/>
            <a:r>
              <a:rPr/>
              <a:t>Often limited to small number of treatments; treatment-replication trade-off</a:t>
            </a:r>
          </a:p>
          <a:p>
            <a:pPr lvl="0"/>
            <a:r>
              <a:rPr/>
              <a:t>Still requires </a:t>
            </a:r>
            <a:r>
              <a:rPr b="1"/>
              <a:t>careful control of confounding variables!</a:t>
            </a:r>
          </a:p>
        </p:txBody>
      </p:sp>
      <p:pic>
        <p:nvPicPr>
          <p:cNvPr descr="images/clipboard-160862219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19300"/>
            <a:ext cx="2781300" cy="175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Experimental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problem of study design &amp; interpretation: </a:t>
            </a:r>
            <a:r>
              <a:rPr b="1"/>
              <a:t>confounding varaibles</a:t>
            </a:r>
          </a:p>
          <a:p>
            <a:pPr lvl="0"/>
            <a:r>
              <a:rPr/>
              <a:t>Is the result due to X or other factors?</a:t>
            </a:r>
          </a:p>
          <a:p>
            <a:pPr lvl="0" indent="0" marL="0">
              <a:buNone/>
            </a:pPr>
            <a:r>
              <a:rPr/>
              <a:t>Good study design seeks to eliminate confounding through:</a:t>
            </a:r>
          </a:p>
          <a:p>
            <a:pPr lvl="0"/>
            <a:r>
              <a:rPr/>
              <a:t>Replication</a:t>
            </a:r>
          </a:p>
          <a:p>
            <a:pPr lvl="0"/>
            <a:r>
              <a:rPr/>
              <a:t>Randomization</a:t>
            </a:r>
          </a:p>
          <a:p>
            <a:pPr lvl="0"/>
            <a:r>
              <a:rPr/>
              <a:t>Controls</a:t>
            </a:r>
          </a:p>
          <a:p>
            <a:pPr lvl="0"/>
            <a:r>
              <a:rPr/>
              <a:t>Independence</a:t>
            </a:r>
          </a:p>
        </p:txBody>
      </p:sp>
      <p:pic>
        <p:nvPicPr>
          <p:cNvPr descr="images/clipboard-14547020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00200"/>
            <a:ext cx="27813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Replication is important because:</a:t>
            </a:r>
          </a:p>
          <a:p>
            <a:pPr lvl="0"/>
            <a:r>
              <a:rPr/>
              <a:t>Ecological systems are variable</a:t>
            </a:r>
          </a:p>
          <a:p>
            <a:pPr lvl="0"/>
            <a:r>
              <a:rPr/>
              <a:t>Need estimate of variability for many statistical methods</a:t>
            </a:r>
          </a:p>
          <a:p>
            <a:pPr lvl="0" indent="0" marL="0">
              <a:buNone/>
            </a:pPr>
            <a:r>
              <a:rPr/>
              <a:t>Without appropriate replication: Is the difference due to manipulation or something else?</a:t>
            </a:r>
          </a:p>
          <a:p>
            <a:pPr lvl="0" indent="0" marL="0">
              <a:buNone/>
            </a:pPr>
            <a:r>
              <a:rPr/>
              <a:t>Replication must be on the appropriate scale: match scale of replication to population of interest, otherwise run into </a:t>
            </a:r>
            <a:r>
              <a:rPr b="1"/>
              <a:t>pseudoreplication</a:t>
            </a:r>
            <a:r>
              <a:rPr/>
              <a:t> (Hurlbert 1984 - </a:t>
            </a:r>
            <a:r>
              <a:rPr b="1"/>
              <a:t>Pseudoreplication and the Design of Ecological Field Experiments</a:t>
            </a:r>
            <a:r>
              <a:rPr/>
              <a:t>)</a:t>
            </a:r>
          </a:p>
        </p:txBody>
      </p:sp>
      <p:pic>
        <p:nvPicPr>
          <p:cNvPr descr="images/clipboard-163893259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05000"/>
            <a:ext cx="27813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Replication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Example 1:</a:t>
            </a:r>
            <a:r>
              <a:rPr/>
              <a:t> Effects of forest fire on soil invertebrate diversity</a:t>
            </a:r>
          </a:p>
          <a:p>
            <a:pPr lvl="1"/>
            <a:r>
              <a:rPr/>
              <a:t>Replicate samples from burnt and unburnt parts of </a:t>
            </a:r>
            <a:r>
              <a:rPr i="1"/>
              <a:t>a single</a:t>
            </a:r>
            <a:r>
              <a:rPr/>
              <a:t> forest</a:t>
            </a:r>
          </a:p>
          <a:p>
            <a:pPr lvl="1"/>
            <a:r>
              <a:rPr/>
              <a:t>What hypothesis is this design addressing?</a:t>
            </a:r>
          </a:p>
          <a:p>
            <a:pPr lvl="0"/>
            <a:r>
              <a:rPr b="1"/>
              <a:t>Example 2:</a:t>
            </a:r>
            <a:r>
              <a:rPr/>
              <a:t> Effects of copper on barnacle settling</a:t>
            </a:r>
          </a:p>
          <a:p>
            <a:pPr lvl="1"/>
            <a:r>
              <a:rPr/>
              <a:t>2 aquaria (+Cu, control), 5 settling plates in each</a:t>
            </a:r>
          </a:p>
          <a:p>
            <a:pPr lvl="1"/>
            <a:r>
              <a:rPr/>
              <a:t>Are settling plates replicates?</a:t>
            </a:r>
          </a:p>
          <a:p>
            <a:pPr lvl="0"/>
            <a:r>
              <a:rPr b="1"/>
              <a:t>Example 3:</a:t>
            </a:r>
            <a:r>
              <a:rPr/>
              <a:t> Effects of sewage discharge on water quality</a:t>
            </a:r>
          </a:p>
          <a:p>
            <a:pPr lvl="1"/>
            <a:r>
              <a:rPr/>
              <a:t>10 water samples above discharge, 10 below</a:t>
            </a:r>
          </a:p>
          <a:p>
            <a:pPr lvl="1"/>
            <a:r>
              <a:rPr/>
              <a:t>Are samples replicates?</a:t>
            </a:r>
          </a:p>
        </p:txBody>
      </p:sp>
      <p:pic>
        <p:nvPicPr>
          <p:cNvPr descr="images/clipboard-342733724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44600"/>
            <a:ext cx="2781300" cy="328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Consequences of Pseudoreplication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pseudoreplicate, you:</a:t>
            </a:r>
          </a:p>
          <a:p>
            <a:pPr lvl="0"/>
            <a:r>
              <a:rPr/>
              <a:t>Underestimate variability</a:t>
            </a:r>
          </a:p>
          <a:p>
            <a:pPr lvl="0"/>
            <a:r>
              <a:rPr/>
              <a:t>Increase type I error rate</a:t>
            </a:r>
          </a:p>
          <a:p>
            <a:pPr lvl="0" indent="0" marL="0">
              <a:buNone/>
            </a:pPr>
            <a:r>
              <a:rPr/>
              <a:t>Replicates must be on scale appropriate to population (&amp; hypothesis!) of interest:</a:t>
            </a:r>
          </a:p>
          <a:p>
            <a:pPr lvl="0"/>
            <a:r>
              <a:rPr/>
              <a:t>Different burnt/unburnt forest areas</a:t>
            </a:r>
          </a:p>
          <a:p>
            <a:pPr lvl="0"/>
            <a:r>
              <a:rPr/>
              <a:t>Different aquaria</a:t>
            </a:r>
          </a:p>
          <a:p>
            <a:pPr lvl="0"/>
            <a:r>
              <a:rPr/>
              <a:t>Different plants and streams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Replication is Difficult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if replication is impossible/difficult/expensive?</a:t>
            </a:r>
          </a:p>
          <a:p>
            <a:pPr lvl="0" indent="0" marL="0">
              <a:buNone/>
            </a:pPr>
            <a:r>
              <a:rPr b="1"/>
              <a:t>Example:</a:t>
            </a:r>
            <a:r>
              <a:rPr/>
              <a:t> Effect of temperature on phytoplankton growth</a:t>
            </a:r>
          </a:p>
          <a:p>
            <a:pPr lvl="0"/>
            <a:r>
              <a:rPr/>
              <a:t>4 chambers (5, 10, 15, 20°C), 10 beakers in each</a:t>
            </a:r>
          </a:p>
          <a:p>
            <a:pPr lvl="0"/>
            <a:r>
              <a:rPr/>
              <a:t>Are beakers true replicates?</a:t>
            </a:r>
          </a:p>
          <a:p>
            <a:pPr lvl="0" indent="0" marL="0">
              <a:buNone/>
            </a:pPr>
            <a:r>
              <a:rPr/>
              <a:t>Possible solutions:</a:t>
            </a:r>
          </a:p>
          <a:p>
            <a:pPr lvl="0"/>
            <a:r>
              <a:rPr/>
              <a:t>Rerun the experiment a few times, changing temperature of chambers - block by time</a:t>
            </a:r>
          </a:p>
          <a:p>
            <a:pPr lvl="0"/>
            <a:r>
              <a:rPr/>
              <a:t>Try to account for all possible differences between chambers (light levels, humidity, contamination) - block by chamber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Controls or reference?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question: Is response due to manipulation/hypothesized mechanism or external factor?</a:t>
            </a:r>
          </a:p>
          <a:p>
            <a:pPr lvl="0" indent="0" marL="0">
              <a:buNone/>
            </a:pPr>
            <a:r>
              <a:rPr/>
              <a:t>Controls help address this question:</a:t>
            </a:r>
          </a:p>
          <a:p>
            <a:pPr lvl="0"/>
            <a:r>
              <a:rPr/>
              <a:t>Experimental units treated exactly as the manipulated units, except no manipulation under investigation</a:t>
            </a:r>
          </a:p>
          <a:p>
            <a:pPr lvl="0"/>
            <a:r>
              <a:rPr/>
              <a:t>Can be tricky to implement; requires careful thought</a:t>
            </a:r>
          </a:p>
          <a:p>
            <a:pPr lvl="0" indent="0" marL="0">
              <a:buNone/>
            </a:pPr>
            <a:r>
              <a:rPr b="1"/>
              <a:t>Examples:</a:t>
            </a:r>
          </a:p>
          <a:p>
            <a:pPr lvl="0"/>
            <a:r>
              <a:rPr/>
              <a:t>In toxicology, controls and treatment groups must both be injected, but control does not receive the substance under study</a:t>
            </a:r>
          </a:p>
          <a:p>
            <a:pPr lvl="0"/>
            <a:r>
              <a:rPr/>
              <a:t>Predator exclosures often produce “cage effects”</a:t>
            </a:r>
          </a:p>
          <a:p>
            <a:pPr lvl="0"/>
            <a:r>
              <a:rPr/>
              <a:t>need two controls: a grazer/predator control and a “cage control”</a:t>
            </a:r>
          </a:p>
        </p:txBody>
      </p:sp>
      <p:pic>
        <p:nvPicPr>
          <p:cNvPr descr="images/clipboard-368504976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4: Designing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4: Designing Controls for Pine Experiments</a:t>
            </a:r>
          </a:p>
          <a:p>
            <a:pPr lvl="0" indent="0" marL="1270000">
              <a:buNone/>
            </a:pPr>
            <a:r>
              <a:rPr sz="2000"/>
              <a:t>Work in small groups to design appropriate controls for each experiment:</a:t>
            </a:r>
          </a:p>
          <a:p>
            <a:pPr lvl="0" indent="-342900" marL="342900">
              <a:buAutoNum type="arabicPeriod"/>
            </a:pPr>
            <a:r>
              <a:rPr sz="2000"/>
              <a:t>Testing whether pine needle length is affected by a particular fertilizer</a:t>
            </a:r>
          </a:p>
          <a:p>
            <a:pPr lvl="0" indent="-342900" marL="342900">
              <a:buAutoNum type="arabicPeriod"/>
            </a:pPr>
            <a:r>
              <a:rPr sz="2000"/>
              <a:t>Testing whether pine needle density affects water retention during drought using enclosed branches</a:t>
            </a:r>
          </a:p>
          <a:p>
            <a:pPr lvl="0" indent="-342900" marL="342900">
              <a:buAutoNum type="arabicPeriod"/>
            </a:pPr>
            <a:r>
              <a:rPr sz="2000"/>
              <a:t>Testing whether sunlight exposure affects pine seedling growth using shade cloth</a:t>
            </a:r>
          </a:p>
          <a:p>
            <a:pPr lvl="0" indent="0" marL="1270000">
              <a:buNone/>
            </a:pPr>
            <a:r>
              <a:rPr sz="2000"/>
              <a:t>For each experiment, identify:</a:t>
            </a:r>
          </a:p>
          <a:p>
            <a:pPr lvl="0"/>
            <a:r>
              <a:rPr sz="2000"/>
              <a:t>What would be appropriate controls?</a:t>
            </a:r>
          </a:p>
          <a:p>
            <a:pPr lvl="0"/>
            <a:r>
              <a:rPr sz="2000"/>
              <a:t>What factors need to be controlled besides the main variable?</a:t>
            </a:r>
          </a:p>
          <a:p>
            <a:pPr lvl="0"/>
            <a:r>
              <a:rPr sz="2000"/>
              <a:t>Could there be “cage effects” or similar issues to consider?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Independence of observations: assumption of many statistical methods</a:t>
            </a:r>
          </a:p>
          <a:p>
            <a:pPr lvl="0" indent="0" marL="0">
              <a:buNone/>
            </a:pPr>
            <a:r>
              <a:rPr/>
              <a:t>Events are independent if occurrence of one has no effect on occurrence of another</a:t>
            </a:r>
          </a:p>
          <a:p>
            <a:pPr lvl="0"/>
            <a:r>
              <a:rPr/>
              <a:t>E.g., offspring of one mother for treatment, offspring of another for control</a:t>
            </a:r>
          </a:p>
          <a:p>
            <a:pPr lvl="0" indent="0" marL="0">
              <a:buNone/>
            </a:pPr>
            <a:r>
              <a:rPr b="1"/>
              <a:t>Temporal/spatial autocorrelation:</a:t>
            </a:r>
            <a:r>
              <a:rPr/>
              <a:t> violation of independence</a:t>
            </a:r>
          </a:p>
          <a:p>
            <a:pPr lvl="0"/>
            <a:r>
              <a:rPr/>
              <a:t>Values of variables at certain place/time correlated with values at another place/time</a:t>
            </a:r>
          </a:p>
          <a:p>
            <a:pPr lvl="0"/>
            <a:r>
              <a:rPr/>
              <a:t>“Everything is related to everything, but near things are more related than distant things”</a:t>
            </a:r>
          </a:p>
          <a:p>
            <a:pPr lvl="0"/>
            <a:r>
              <a:rPr/>
              <a:t>Special methods to adjust for autocorrelation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Randomization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Randomization helps deconfound “lurking” variables:</a:t>
            </a:r>
          </a:p>
          <a:p>
            <a:pPr lvl="0"/>
            <a:r>
              <a:rPr/>
              <a:t>Attempts to equalize effects of confounders</a:t>
            </a:r>
          </a:p>
          <a:p>
            <a:pPr lvl="0" indent="0" marL="0">
              <a:buNone/>
            </a:pPr>
            <a:r>
              <a:rPr b="1"/>
              <a:t>Random sampling from population:</a:t>
            </a:r>
          </a:p>
          <a:p>
            <a:pPr lvl="0"/>
            <a:r>
              <a:rPr/>
              <a:t>Experimental units should represent random sample from population of interest</a:t>
            </a:r>
          </a:p>
          <a:p>
            <a:pPr lvl="0"/>
            <a:r>
              <a:rPr/>
              <a:t>Ensures unbiased population estimates and inference</a:t>
            </a:r>
          </a:p>
          <a:p>
            <a:pPr lvl="0"/>
            <a:r>
              <a:rPr/>
              <a:t>E.g., animals in experiment are random subset of all animals that could have been used</a:t>
            </a:r>
          </a:p>
        </p:txBody>
      </p:sp>
      <p:pic>
        <p:nvPicPr>
          <p:cNvPr descr="images/clipboard-42537844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19300"/>
            <a:ext cx="2781300" cy="175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Randomization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Allocation of experimental units to treatment/control:</a:t>
            </a:r>
          </a:p>
          <a:p>
            <a:pPr lvl="0"/>
            <a:r>
              <a:rPr/>
              <a:t>Experimental units must have equal chance of being allocated to control or experimental group</a:t>
            </a:r>
          </a:p>
          <a:p>
            <a:pPr lvl="0"/>
            <a:r>
              <a:rPr/>
              <a:t>Properly done by random number generation</a:t>
            </a:r>
          </a:p>
          <a:p>
            <a:pPr lvl="0" indent="0" marL="0">
              <a:buNone/>
            </a:pPr>
            <a:r>
              <a:rPr/>
              <a:t>Randomization is essential at two levels:</a:t>
            </a:r>
          </a:p>
          <a:p>
            <a:pPr lvl="0"/>
            <a:r>
              <a:rPr/>
              <a:t>Random selection from population</a:t>
            </a:r>
          </a:p>
          <a:p>
            <a:pPr lvl="0"/>
            <a:r>
              <a:rPr/>
              <a:t>Random assignment to treatments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Treatment Control
1        18      49
2        74     100
3        65      47
4        24      71
5        25      89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Sampling Design in Field Studies - Simple Random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random design:</a:t>
            </a:r>
          </a:p>
          <a:p>
            <a:pPr lvl="0"/>
            <a:r>
              <a:rPr/>
              <a:t>all individuals/sampling units have equal chance of being selected</a:t>
            </a:r>
          </a:p>
          <a:p>
            <a:pPr lvl="0"/>
            <a:r>
              <a:rPr/>
              <a:t>Assign number to all possible units, select units using random number generator</a:t>
            </a:r>
          </a:p>
          <a:p>
            <a:pPr lvl="0"/>
            <a:r>
              <a:rPr/>
              <a:t>Often tricky in ecology; haphazard is common alternative</a:t>
            </a:r>
          </a:p>
          <a:p>
            <a:pPr lvl="0"/>
            <a:r>
              <a:rPr/>
              <a:t>Most population estimates and tests assume random sampling</a:t>
            </a:r>
          </a:p>
        </p:txBody>
      </p:sp>
      <p:pic>
        <p:nvPicPr>
          <p:cNvPr descr="images/clipboard-17157659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09800"/>
            <a:ext cx="2781300" cy="138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Sampling Design - Stratified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Stratified designs: if there are distinct strata (groups) in population, may want to sample each independently</a:t>
            </a:r>
          </a:p>
          <a:p>
            <a:pPr lvl="0"/>
            <a:r>
              <a:rPr/>
              <a:t>Samples collected from each stratum randomly, n proportional to “size” of stratum</a:t>
            </a:r>
          </a:p>
          <a:p>
            <a:pPr lvl="0"/>
            <a:r>
              <a:rPr/>
              <a:t>Means and variances need to be estimated using different procedure; strata included in model</a:t>
            </a:r>
          </a:p>
        </p:txBody>
      </p:sp>
      <p:pic>
        <p:nvPicPr>
          <p:cNvPr descr="images/clipboard-42295718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59000"/>
            <a:ext cx="27813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Sampling Design -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Cluster designs:</a:t>
            </a:r>
          </a:p>
          <a:p>
            <a:pPr lvl="0"/>
            <a:r>
              <a:rPr/>
              <a:t>focuses on sampling subunits nested in larger units</a:t>
            </a:r>
          </a:p>
          <a:p>
            <a:pPr lvl="0"/>
            <a:r>
              <a:rPr/>
              <a:t>Used when other designs impractical (e.g., due to cost)</a:t>
            </a:r>
          </a:p>
          <a:p>
            <a:pPr lvl="0"/>
            <a:r>
              <a:rPr/>
              <a:t>Mean calculation easy, modified procedure for variance</a:t>
            </a:r>
          </a:p>
          <a:p>
            <a:pPr lvl="0"/>
            <a:r>
              <a:rPr/>
              <a:t>Nested ANOVA is often appropriate analytical method</a:t>
            </a:r>
          </a:p>
        </p:txBody>
      </p:sp>
      <p:pic>
        <p:nvPicPr>
          <p:cNvPr descr="images/clipboard-34973744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59000"/>
            <a:ext cx="27813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Sampling Design - Systematic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Systematic designs:</a:t>
            </a:r>
          </a:p>
          <a:p>
            <a:pPr lvl="0"/>
            <a:r>
              <a:rPr/>
              <a:t>sampling units evenly dispersed: “transect” sampling common in ecology</a:t>
            </a:r>
          </a:p>
          <a:p>
            <a:pPr lvl="0"/>
            <a:r>
              <a:rPr/>
              <a:t>Used to determine changes along gradient</a:t>
            </a:r>
          </a:p>
          <a:p>
            <a:pPr lvl="0"/>
            <a:r>
              <a:rPr/>
              <a:t>Risk: might coincide with some natural pattern</a:t>
            </a:r>
          </a:p>
        </p:txBody>
      </p:sp>
      <p:pic>
        <p:nvPicPr>
          <p:cNvPr descr="images/clipboard-15097914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09800"/>
            <a:ext cx="2781300" cy="138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5: Field Sampling Pine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5: Field Sampling Pine Trees</a:t>
            </a:r>
          </a:p>
          <a:p>
            <a:pPr lvl="0" indent="0" marL="1270000">
              <a:buNone/>
            </a:pPr>
            <a:r>
              <a:rPr sz="2000"/>
              <a:t>Let’s consider sampling pine needles across campus:</a:t>
            </a:r>
          </a:p>
          <a:p>
            <a:pPr lvl="0" indent="0" marL="1270000">
              <a:buNone/>
            </a:pPr>
          </a:p>
          <a:p>
            <a:pPr lvl="0"/>
            <a:r>
              <a:rPr sz="2000"/>
              <a:t>In groups of 3-4, design a sampling strategy to:</a:t>
            </a:r>
          </a:p>
          <a:p>
            <a:pPr lvl="1" indent="-342900" marL="685800">
              <a:buAutoNum type="arabicPeriod"/>
            </a:pPr>
            <a:r>
              <a:rPr sz="2000"/>
              <a:t>Estimate average needle length across campus (simple random sampling)</a:t>
            </a:r>
          </a:p>
          <a:p>
            <a:pPr lvl="1" indent="-342900" marL="685800">
              <a:buAutoNum type="arabicPeriod"/>
            </a:pPr>
            <a:r>
              <a:rPr sz="2000"/>
              <a:t>Compare needle lengths between north and south campus areas (stratified sampling)</a:t>
            </a:r>
          </a:p>
          <a:p>
            <a:pPr lvl="1" indent="-342900" marL="685800">
              <a:buAutoNum type="arabicPeriod"/>
            </a:pPr>
            <a:r>
              <a:rPr sz="2000"/>
              <a:t>Study how needle length changes with distance from the main road (systematic sampling)</a:t>
            </a:r>
          </a:p>
          <a:p>
            <a:pPr lvl="0"/>
            <a:r>
              <a:rPr sz="2000"/>
              <a:t>For each strategy, describe:</a:t>
            </a:r>
          </a:p>
          <a:p>
            <a:pPr lvl="1"/>
            <a:r>
              <a:rPr sz="2000"/>
              <a:t>How many samples you would take</a:t>
            </a:r>
          </a:p>
          <a:p>
            <a:pPr lvl="1"/>
            <a:r>
              <a:rPr sz="2000"/>
              <a:t>Where you would take them</a:t>
            </a:r>
          </a:p>
          <a:p>
            <a:pPr lvl="1"/>
            <a:r>
              <a:rPr sz="2000"/>
              <a:t>What additional variables you might measure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Power Analysis Wrap 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Power is an important aspect of experimental design:</a:t>
                </a:r>
              </a:p>
              <a:p>
                <a:pPr lvl="1"/>
                <a:r>
                  <a:rPr/>
                  <a:t>Low power → higher likelihood of type II error (1-β)</a:t>
                </a:r>
              </a:p>
              <a:p>
                <a:pPr lvl="1"/>
                <a:r>
                  <a:rPr/>
                  <a:t>A study’s power tells us how likely we are to see an effect if one really exists</a:t>
                </a:r>
              </a:p>
              <a:p>
                <a:pPr lvl="0"/>
                <a:r>
                  <a:rPr/>
                  <a:t>Can use power analysis:</a:t>
                </a:r>
              </a:p>
              <a:p>
                <a:pPr lvl="1"/>
                <a:r>
                  <a:rPr/>
                  <a:t>Before experiment (</a:t>
                </a:r>
                <a:r>
                  <a:rPr i="1"/>
                  <a:t>a priori</a:t>
                </a:r>
                <a:r>
                  <a:rPr/>
                  <a:t>): how many samples do we need?</a:t>
                </a:r>
              </a:p>
              <a:p>
                <a:pPr lvl="2"/>
                <a:r>
                  <a:rPr/>
                  <a:t>what effect size can we detect?</a:t>
                </a:r>
              </a:p>
              <a:p>
                <a:pPr lvl="1"/>
                <a:r>
                  <a:rPr/>
                  <a:t>After experiment (</a:t>
                </a:r>
                <a:r>
                  <a:rPr i="1"/>
                  <a:t>post hoc</a:t>
                </a:r>
                <a:r>
                  <a:rPr/>
                  <a:t>): was finding of no effect due to lack of effect or poor design?</a:t>
                </a:r>
              </a:p>
              <a:p>
                <a:pPr lvl="0"/>
                <a:r>
                  <a:rPr/>
                  <a:t>Power is a function of:</a:t>
                </a:r>
              </a:p>
              <a:p>
                <a:pPr lvl="1"/>
                <a:r>
                  <a:rPr/>
                  <a:t>ES - Effect size</a:t>
                </a:r>
              </a:p>
              <a:p>
                <a:pPr lvl="1"/>
                <a:r>
                  <a:rPr/>
                  <a:t>n - Sample size</a:t>
                </a:r>
              </a:p>
              <a:p>
                <a:pPr lvl="1"/>
                <a:r>
                  <a:rPr/>
                  <a:t>sigma - standard deviation</a:t>
                </a:r>
              </a:p>
              <a:p>
                <a:pPr lvl="1"/>
                <a:r>
                  <a:rPr/>
                  <a:t>α (significance level) - 0.05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Power</m:t>
                      </m:r>
                      <m:r>
                        <m:rPr>
                          <m:sty m:val="p"/>
                        </m:rPr>
                        <m:t>∝</m:t>
                      </m:r>
                      <m:f>
                        <m:fPr>
                          <m:type m:val="bar"/>
                        </m:fPr>
                        <m:num>
                          <m:r>
                            <m:t>E</m:t>
                          </m:r>
                          <m:r>
                            <m:t>S</m:t>
                          </m:r>
                          <m:r>
                            <m:t>α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num>
                        <m:den>
                          <m:r>
                            <m:t>σ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Priori Power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power analysis to plan experiments:</a:t>
            </a:r>
          </a:p>
          <a:p>
            <a:pPr lvl="0"/>
            <a:r>
              <a:rPr b="1"/>
              <a:t>Sample size calculation:</a:t>
            </a:r>
            <a:r>
              <a:rPr/>
              <a:t> how many samples will be needed?</a:t>
            </a:r>
          </a:p>
          <a:p>
            <a:pPr lvl="0"/>
            <a:r>
              <a:rPr/>
              <a:t>Need to know: desired power, variability, significance level, effect size</a:t>
            </a:r>
          </a:p>
          <a:p>
            <a:pPr lvl="0"/>
            <a:r>
              <a:rPr b="1"/>
              <a:t>Effect size calculation:</a:t>
            </a:r>
            <a:r>
              <a:rPr/>
              <a:t> what kind of effect can we find, given particular design?</a:t>
            </a:r>
          </a:p>
          <a:p>
            <a:pPr lvl="0"/>
            <a:r>
              <a:rPr/>
              <a:t>Need to know: desired power, variability, significance level, n</a:t>
            </a:r>
          </a:p>
          <a:p>
            <a:pPr lvl="0"/>
            <a:r>
              <a:rPr/>
              <a:t>Cohen’s d - standardized measure of effect size used in statistical analysis, particularly when comparing two means</a:t>
            </a:r>
          </a:p>
          <a:p>
            <a:pPr lvl="1"/>
            <a:r>
              <a:rPr/>
              <a:t>0.2 = small effect</a:t>
            </a:r>
          </a:p>
          <a:p>
            <a:pPr lvl="1"/>
            <a:r>
              <a:rPr/>
              <a:t>0.5 = medium effect</a:t>
            </a:r>
          </a:p>
          <a:p>
            <a:pPr lvl="1"/>
            <a:r>
              <a:rPr/>
              <a:t>0.8 = large effect</a:t>
            </a:r>
          </a:p>
          <a:p>
            <a:pPr lvl="0"/>
            <a:r>
              <a:rPr/>
              <a:t>Helps determine the practical significance of research findings, as opposed to just statistical significance (p-values). A Cohen’s d of 0.8 means that the difference between groups is large enough to be substantial in practical terms - specifically, it indicates that the means differ by 0.8 standard deviations.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 Priori Power Analysis Example</a:t>
            </a:r>
          </a:p>
          <a:p>
            <a:pPr lvl="1" indent="0" marL="342900">
              <a:buNone/>
            </a:pPr>
            <a:r>
              <a:rPr/>
              <a:t>How many samples do you need to find this difference</a:t>
            </a:r>
          </a:p>
          <a:p>
            <a:pPr lvl="0" indent="0">
              <a:buNone/>
            </a:pPr>
            <a:r>
              <a:rPr>
                <a:latin typeface="Courier"/>
              </a:rPr>
              <a:t>
     Two-sample t test power calculation 
              n = 25.52458
              d = 0.8
      sig.level = 0.05
          power = 0.8
    alternative = two.sided
NOTE: n is number in *each* group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 Hoc Power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Imagine you did not reject null hypothesis - still worth publishing result?</a:t>
            </a:r>
          </a:p>
          <a:p>
            <a:pPr lvl="0"/>
            <a:r>
              <a:rPr/>
              <a:t>Is non-significant result due to low power (poor design) or actual no-effect situation?</a:t>
            </a:r>
          </a:p>
          <a:p>
            <a:pPr lvl="1"/>
            <a:r>
              <a:rPr/>
              <a:t>Have n and estimate of σ</a:t>
            </a:r>
          </a:p>
          <a:p>
            <a:pPr lvl="1"/>
            <a:r>
              <a:rPr/>
              <a:t>Need to define effect size that wanted to detect</a:t>
            </a:r>
          </a:p>
          <a:p>
            <a:pPr lvl="1"/>
            <a:r>
              <a:rPr/>
              <a:t>In return get estimate of experiment’s power</a:t>
            </a:r>
          </a:p>
          <a:p>
            <a:pPr lvl="0"/>
            <a:r>
              <a:rPr/>
              <a:t>Cohen’s d is calculated as: d = (Mean1 - Mean2) / SD_pooled Where SD_pooled is the pooled standard deviation of both groups.</a:t>
            </a:r>
          </a:p>
          <a:p>
            <a:pPr lvl="0"/>
            <a:r>
              <a:rPr/>
              <a:t>Can help convince reviewers that you are a good experimenter, but there really is no effect… please publish my non-significant finding!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 Hoc Power Analysis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Post hoc power analysis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If we had n = 20 per group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Parameters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effect_size &lt;-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Medium effect size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significance &lt;-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sample_size &lt;-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per group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achieved power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pwr.t.test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sample_size,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d =</a:t>
            </a:r>
            <a:r>
              <a:rPr>
                <a:solidFill>
                  <a:srgbClr val="003B4F"/>
                </a:solidFill>
                <a:latin typeface="Courier"/>
              </a:rPr>
              <a:t> effect_size,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sig.level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"two.sample"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     Two-sample t test power calculation 
              n = 20
              d = 0.5
      sig.level = 0.05
          power = 0.337939
    alternative = two.sided
NOTE: n is number in *each* group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6: Power Analysis for Pine Needle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6: Power Analysis for Pine Needle Experiment</a:t>
            </a:r>
          </a:p>
          <a:p>
            <a:pPr lvl="0" indent="0" marL="1270000">
              <a:buNone/>
            </a:pPr>
            <a:r>
              <a:rPr sz="2000"/>
              <a:t>Let’s design a study to compare needle lengths between exposed and sheltered pine trees: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[1] 0.8333333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
     Two-sample t test power calculation 
              n = 23.60467
              d = 0.8333333
      sig.level = 0.05
          power = 0.8
    alternative = two.sided
NOTE: n is number in *each* group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6: Power Curve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Activity 6: Power Analysis for Pine Needle Experiment</a:t>
            </a:r>
          </a:p>
          <a:p>
            <a:pPr lvl="0" indent="0" marL="1270000">
              <a:buNone/>
            </a:pPr>
            <a:r>
              <a:rPr sz="2000"/>
              <a:t>Let’s design a study to compare needle lengths between exposed and sheltered pine trees:</a:t>
            </a:r>
          </a:p>
          <a:p>
            <a:pPr lvl="0" indent="0" marL="1270000">
              <a:buNone/>
            </a:pPr>
          </a:p>
          <a:p>
            <a:pPr lvl="0" indent="0" marL="1270000">
              <a:buNone/>
            </a:pPr>
            <a:r>
              <a:rPr sz="2000"/>
              <a:t>Questions:</a:t>
            </a:r>
          </a:p>
          <a:p>
            <a:pPr lvl="0" indent="-342900" marL="342900">
              <a:buAutoNum type="arabicPeriod"/>
            </a:pPr>
            <a:r>
              <a:rPr sz="2000"/>
              <a:t>How many trees should we sample to achieve 80% power?</a:t>
            </a:r>
          </a:p>
          <a:p>
            <a:pPr lvl="0" indent="-342900" marL="342900">
              <a:buAutoNum type="arabicPeriod"/>
            </a:pPr>
            <a:r>
              <a:rPr sz="2000"/>
              <a:t>If we can only sample 5 trees per group, what is our power?</a:t>
            </a:r>
          </a:p>
          <a:p>
            <a:pPr lvl="0" indent="-342900" marL="342900">
              <a:buAutoNum type="arabicPeriod"/>
            </a:pPr>
            <a:r>
              <a:rPr sz="2000"/>
              <a:t>How would increasing variability (SD) affect our sample size requirements?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Study Design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Study design is closely linked to statistical analysis</a:t>
            </a:r>
          </a:p>
          <a:p>
            <a:pPr lvl="0"/>
            <a:r>
              <a:rPr/>
              <a:t>Recall: - Categorical vs. continuous variables - Dependent vs. independent variables</a:t>
            </a:r>
          </a:p>
          <a:p>
            <a:pPr lvl="0"/>
            <a:r>
              <a:rPr/>
              <a:t>Nature of variables dictates analytical approach:</a:t>
            </a:r>
          </a:p>
          <a:p>
            <a:pPr lvl="1"/>
            <a:r>
              <a:rPr/>
              <a:t>Match your analysis to your design</a:t>
            </a:r>
          </a:p>
          <a:p>
            <a:pPr lvl="1"/>
            <a:r>
              <a:rPr/>
              <a:t>Cannot “fix” poor design with fancy statistics</a:t>
            </a:r>
          </a:p>
        </p:txBody>
      </p:sp>
      <p:pic>
        <p:nvPicPr>
          <p:cNvPr descr="images/clipboard-394490718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24600" y="660400"/>
            <a:ext cx="23876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and Take-Home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concepts we covered today:</a:t>
            </a:r>
          </a:p>
          <a:p>
            <a:pPr lvl="0" indent="-342900" marL="342900">
              <a:buAutoNum type="arabicPeriod"/>
            </a:pPr>
            <a:r>
              <a:rPr b="1"/>
              <a:t>Study design is critical</a:t>
            </a:r>
            <a:r>
              <a:rPr/>
              <a:t> - statistics cannot save poor design</a:t>
            </a:r>
          </a:p>
          <a:p>
            <a:pPr lvl="0" indent="-342900" marL="342900">
              <a:buAutoNum type="arabicPeriod"/>
            </a:pPr>
            <a:r>
              <a:rPr b="1"/>
              <a:t>Natural vs. manipulative experiments</a:t>
            </a:r>
            <a:r>
              <a:rPr/>
              <a:t> - different approaches to causality</a:t>
            </a:r>
          </a:p>
          <a:p>
            <a:pPr lvl="0" indent="-342900" marL="342900">
              <a:buAutoNum type="arabicPeriod"/>
            </a:pPr>
            <a:r>
              <a:rPr b="1"/>
              <a:t>Principles of good design:</a:t>
            </a:r>
          </a:p>
          <a:p>
            <a:pPr lvl="1"/>
            <a:r>
              <a:rPr/>
              <a:t>Replication at the right scale</a:t>
            </a:r>
          </a:p>
          <a:p>
            <a:pPr lvl="1"/>
            <a:r>
              <a:rPr/>
              <a:t>Proper randomization</a:t>
            </a:r>
          </a:p>
          <a:p>
            <a:pPr lvl="1"/>
            <a:r>
              <a:rPr/>
              <a:t>Appropriate controls</a:t>
            </a:r>
          </a:p>
          <a:p>
            <a:pPr lvl="1"/>
            <a:r>
              <a:rPr/>
              <a:t>Independence</a:t>
            </a:r>
          </a:p>
          <a:p>
            <a:pPr lvl="0" indent="-342900" marL="342900">
              <a:buAutoNum type="arabicPeriod"/>
            </a:pPr>
            <a:r>
              <a:rPr b="1"/>
              <a:t>Power analysis</a:t>
            </a:r>
            <a:r>
              <a:rPr/>
              <a:t> - planning for sufficient sample size</a:t>
            </a:r>
          </a:p>
          <a:p>
            <a:pPr lvl="0" indent="-342900" marL="342900">
              <a:buAutoNum type="arabicPeriod"/>
            </a:pPr>
            <a:r>
              <a:rPr b="1"/>
              <a:t>Match analysis to design</a:t>
            </a:r>
            <a:r>
              <a:rPr/>
              <a:t> - your statistical approach should follow from your experimental design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Remember:</a:t>
            </a:r>
          </a:p>
          <a:p>
            <a:pPr lvl="0"/>
            <a:r>
              <a:rPr/>
              <a:t>Correlation ≠ causation</a:t>
            </a:r>
          </a:p>
          <a:p>
            <a:pPr lvl="0"/>
            <a:r>
              <a:rPr/>
              <a:t>Beware of pseudoreplication</a:t>
            </a:r>
          </a:p>
          <a:p>
            <a:pPr lvl="0"/>
            <a:r>
              <a:rPr/>
              <a:t>Design before you collect data</a:t>
            </a:r>
          </a:p>
          <a:p>
            <a:pPr lvl="0"/>
            <a:r>
              <a:rPr/>
              <a:t>Consider practical constraints</a:t>
            </a:r>
          </a:p>
          <a:p>
            <a:pPr lvl="0"/>
            <a:r>
              <a:rPr/>
              <a:t>Report everything transparently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References and 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Gotelli, N. J., &amp; Ellison, A. M. (2012). A primer of ecological statistics (2nd ed.). Sinauer Associates.</a:t>
            </a:r>
          </a:p>
          <a:p>
            <a:pPr lvl="0"/>
            <a:r>
              <a:rPr/>
              <a:t>Hurlbert, S. H. (1984). Pseudoreplication and the design of ecological field experiments. Ecological Monographs, 54(2), 187-211.</a:t>
            </a:r>
          </a:p>
          <a:p>
            <a:pPr lvl="0"/>
            <a:r>
              <a:rPr/>
              <a:t>Quinn, G. P., &amp; Keough, M. J. (2002). Experimental design and data analysis for biologists. Cambridge University Press.</a:t>
            </a:r>
          </a:p>
          <a:p>
            <a:pPr lvl="0"/>
            <a:r>
              <a:rPr/>
              <a:t>Zuur, A. F., Ieno, E. N., &amp; Elphick, C. S. (2010). A protocol for data exploration to avoid common statistical problems. Methods in Ecology and Evolution, 1(1), 3-14.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Design &amp; Sampling</dc:title>
  <dc:creator>Bill Perry</dc:creator>
  <cp:keywords/>
  <dc:description>Principles of experimental design and sampling.</dc:description>
  <dcterms:created xsi:type="dcterms:W3CDTF">2026-07-04T15:55:45Z</dcterms:created>
  <dcterms:modified xsi:type="dcterms:W3CDTF">2026-07-04T15:55:45Z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8</vt:lpwstr>
  </property>
  <property fmtid="{D5CDD505-2E9C-101B-9397-08002B2CF9AE}" pid="13" name="resources">
    <vt:lpwstr/>
  </property>
  <property fmtid="{D5CDD505-2E9C-101B-9397-08002B2CF9AE}" pid="14" name="subtitle">
    <vt:lpwstr>Designing studies</vt:lpwstr>
  </property>
  <property fmtid="{D5CDD505-2E9C-101B-9397-08002B2CF9AE}" pid="15" name="toc-title">
    <vt:lpwstr>Table of contents</vt:lpwstr>
  </property>
  <property fmtid="{D5CDD505-2E9C-101B-9397-08002B2CF9AE}" pid="16" name="week">
    <vt:lpwstr>4</vt:lpwstr>
  </property>
</Properties>
</file>