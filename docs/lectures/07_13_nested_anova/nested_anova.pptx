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Hierarchical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r>
                          <m:rPr>
                            <m:sty m:val="p"/>
                          </m:rPr>
                          <m:t>(</m:t>
                        </m:r>
                        <m:r>
                          <m:t>i</m:t>
                        </m:r>
                        <m:r>
                          <m:rPr>
                            <m:sty m:val="p"/>
                          </m:rPr>
                          <m:t>)</m:t>
                        </m:r>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21.6 25.1  5.62      0    79
## 3 medium    20  19   25.7  5.74      0    71
## 4 high      20   1.3  3.18 0.711     0    13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1.288      8.147 12.000   0.158  0.87707   </a:t>
            </a:r>
            <a:br/>
            <a:r>
              <a:rPr i="1">
                <a:solidFill>
                  <a:srgbClr val="5E5E5E"/>
                </a:solidFill>
                <a:latin typeface="Courier"/>
              </a:rPr>
              <a:t>## treat3        -1.263      8.147 12.000  -0.155  0.87943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r>
                          <m:rPr>
                            <m:sty m:val="p"/>
                          </m:rPr>
                          <m:t>(</m:t>
                        </m:r>
                        <m:r>
                          <m:t>i</m:t>
                        </m:r>
                        <m:r>
                          <m:rPr>
                            <m:sty m:val="p"/>
                          </m:rPr>
                          <m:t>)</m:t>
                        </m:r>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21.6 9.41 12     1.05     42.0</a:t>
            </a:r>
            <a:br/>
            <a:r>
              <a:rPr i="1">
                <a:solidFill>
                  <a:srgbClr val="5E5E5E"/>
                </a:solidFill>
                <a:latin typeface="Courier"/>
              </a:rPr>
              <a:t>##  medium   19.0 9.41 12    -1.50     39.5</a:t>
            </a:r>
            <a:br/>
            <a:r>
              <a:rPr i="1">
                <a:solidFill>
                  <a:srgbClr val="5E5E5E"/>
                </a:solidFill>
                <a:latin typeface="Courier"/>
              </a:rPr>
              <a:t>##  high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latin typeface="Courier"/>
              </a:rPr>
              <a:t>## Pairwise comparisons (Sidak adjusted):
##  contrast      estimate   SE df t.ratio p.value
##  none - low       17.65 13.3 12   1.327  0.7557
##  none - medium    20.20 13.3 12   1.518  0.6356
##  none - high      37.90 13.3 12   2.849  0.0848
##  low - medium      2.55 13.3 12   0.192  1.0000
##  low - high       20.25 13.3 12   1.522  0.6331
##  medium - high    17.70 13.3 12   1.330  0.7534
## 
## Degrees-of-freedom method: kenward-roger 
##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latin typeface="Courier"/>
              </a:rPr>
              <a:t>## Compact letter display:
##  treat  emmean   SE df lower.CL upper.CL .group
##  high      1.3 9.41 12   -19.20     21.8  a    
##  medium   19.0 9.41 12    -1.50     39.5  a    
##  low      21.6 9.41 12     1.05     42.0  a    
##  none     39.2 9.41 12    18.70     59.7  a    
## 
## Degrees-of-freedom method: kenward-roger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latin typeface="Courier"/>
              </a:rPr>
              <a:t>## Levene's test for homogeneity of variance:
## Levene's Test for Homogeneity of Variance (center = median)
##       Df F value     Pr(&gt;F)    
## group  3  8.1694 0.00008785 ***
##       76                       
## ---
##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Nested ANOVA</dc:title>
  <dc:creator>Bill Perry</dc:creator>
  <cp:keywords/>
  <dc:description>Nested ANOVA and variance components.</dc:description>
  <dcterms:created xsi:type="dcterms:W3CDTF">2026-07-04T15:21:37Z</dcterms:created>
  <dcterms:modified xsi:type="dcterms:W3CDTF">2026-07-04T15:21:37Z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ngines">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13</vt:lpwstr>
  </property>
  <property fmtid="{D5CDD505-2E9C-101B-9397-08002B2CF9AE}" pid="14" name="resources">
    <vt:lpwstr/>
  </property>
  <property fmtid="{D5CDD505-2E9C-101B-9397-08002B2CF9AE}" pid="15" name="subtitle">
    <vt:lpwstr>Hierarchical designs</vt:lpwstr>
  </property>
  <property fmtid="{D5CDD505-2E9C-101B-9397-08002B2CF9AE}" pid="16" name="toc-title">
    <vt:lpwstr>Table of contents</vt:lpwstr>
  </property>
  <property fmtid="{D5CDD505-2E9C-101B-9397-08002B2CF9AE}" pid="17" name="week">
    <vt:lpwstr>7</vt:lpwstr>
  </property>
</Properties>
</file>