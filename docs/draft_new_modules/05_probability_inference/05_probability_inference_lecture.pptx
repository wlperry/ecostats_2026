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4.png" /><Relationship Id="rId2" Type="http://schemas.openxmlformats.org/officeDocument/2006/relationships/image" Target="../media/image1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6.png" /><Relationship Id="rId2" Type="http://schemas.openxmlformats.org/officeDocument/2006/relationships/image" Target="../media/image1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Module 5 — Probability &amp; Inference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Z-scores, the t-distribution, confidence intervals, and hypothesis testing</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Last time (Module 4) you:</a:t>
            </a:r>
          </a:p>
          <a:p>
            <a:pPr lvl="0"/>
            <a:r>
              <a:rPr/>
              <a:t>Built boxplots with raw points overlaid</a:t>
            </a:r>
          </a:p>
          <a:p>
            <a:pPr lvl="0"/>
            <a:r>
              <a:rPr/>
              <a:t>Mapped color/fill by group, plotted mean ± SE with </a:t>
            </a:r>
            <a:r>
              <a:rPr>
                <a:latin typeface="Courier"/>
              </a:rPr>
              <a:t>stat_summary()</a:t>
            </a:r>
          </a:p>
          <a:p>
            <a:pPr lvl="0"/>
            <a:r>
              <a:rPr/>
              <a:t>Faceted plots and saved a publication-ready figure with </a:t>
            </a:r>
            <a:r>
              <a:rPr>
                <a:latin typeface="Courier"/>
              </a:rPr>
              <a:t>ggsave()</a:t>
            </a:r>
          </a:p>
          <a:p>
            <a:pPr lvl="0" indent="0" marL="1270000">
              <a:buNone/>
            </a:pPr>
            <a:r>
              <a:rPr sz="2000" b="1"/>
              <a:t>Note</a:t>
            </a:r>
          </a:p>
          <a:p>
            <a:pPr lvl="0" indent="0" marL="1270000">
              <a:buNone/>
            </a:pPr>
            <a:r>
              <a:rPr sz="2000" b="1"/>
              <a:t>✅ Key idea from Module 4</a:t>
            </a:r>
          </a:p>
          <a:p>
            <a:pPr lvl="0" indent="0" marL="1270000">
              <a:buNone/>
            </a:pPr>
            <a:r>
              <a:rPr sz="2000"/>
              <a:t>You can now describe and visualize a dataset end to end. Today we ask a harder question: how confident can we be that a pattern we see in a </a:t>
            </a:r>
            <a:r>
              <a:rPr sz="2000" i="1"/>
              <a:t>sample</a:t>
            </a:r>
            <a:r>
              <a:rPr sz="2000"/>
              <a:t> reflects something real about the </a:t>
            </a:r>
            <a:r>
              <a:rPr sz="2000" i="1"/>
              <a:t>population</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Probability distributions &amp; the standard normal</a:t>
            </a:r>
          </a:p>
          <a:p>
            <a:pPr lvl="0" indent="-342900" marL="342900">
              <a:buAutoNum type="arabicPeriod"/>
            </a:pPr>
            <a:r>
              <a:rPr sz="2000"/>
              <a:t>Z-scores and the 68–95–99.7 rule</a:t>
            </a:r>
          </a:p>
          <a:p>
            <a:pPr lvl="0" indent="-342900" marL="342900">
              <a:buAutoNum type="arabicPeriod"/>
            </a:pPr>
            <a:r>
              <a:rPr sz="2000"/>
              <a:t>Standard error, confidence intervals &amp; the t-distribution</a:t>
            </a:r>
          </a:p>
          <a:p>
            <a:pPr lvl="0" indent="-342900" marL="342900">
              <a:buAutoNum type="arabicPeriod"/>
            </a:pPr>
            <a:r>
              <a:rPr sz="2000"/>
              <a:t>Hypothesis testing, p-values</a:t>
            </a:r>
          </a:p>
          <a:p>
            <a:pPr lvl="0" indent="-342900" marL="342900">
              <a:buAutoNum type="arabicPeriod"/>
            </a:pPr>
            <a:r>
              <a:rPr sz="2000"/>
              <a:t>Type I/II errors and power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1 · Probability Distributions &amp; the Standard Normal</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a:p>
            <a:pPr lvl="0" indent="0" marL="1270000">
              <a:buNone/>
            </a:pPr>
            <a:r>
              <a:rPr sz="2000" b="1"/>
              <a:t>Tip</a:t>
            </a:r>
          </a:p>
          <a:p>
            <a:pPr lvl="0" indent="0" marL="1270000">
              <a:buNone/>
            </a:pPr>
            <a:r>
              <a:rPr sz="2000"/>
              <a:t>📖 This module draws on Whitlock &amp; Schluter’s </a:t>
            </a:r>
            <a:r>
              <a:rPr sz="2000" i="1"/>
              <a:t>The Analysis of Biological Data</a:t>
            </a:r>
            <a:r>
              <a:rPr sz="2000"/>
              <a:t>, Ch. 4–6, and Gotelli &amp; Ellison’s </a:t>
            </a:r>
            <a:r>
              <a:rPr sz="2000" i="1"/>
              <a:t>A Primer of Ecological Statistics</a:t>
            </a:r>
            <a:r>
              <a:rPr sz="2000"/>
              <a:t>, Ch. 3–4. Full citations are on the final slide.</a:t>
            </a:r>
          </a:p>
        </p:txBody>
      </p:sp>
      <p:pic>
        <p:nvPicPr>
          <p:cNvPr descr="05_probability_inference_lecture_files/figure-pptx/l04-02-1.png" id="0" name="Picture 1"/>
          <p:cNvPicPr>
            <a:picLocks noGrp="1" noChangeAspect="1"/>
          </p:cNvPicPr>
          <p:nvPr/>
        </p:nvPicPr>
        <p:blipFill>
          <a:blip r:embed="rId2"/>
          <a:stretch>
            <a:fillRect/>
          </a:stretch>
        </p:blipFill>
        <p:spPr bwMode="auto">
          <a:xfrm>
            <a:off x="4648200" y="1270000"/>
            <a:ext cx="4038600" cy="3225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a:p>
            <a:pPr lvl="0" indent="0" marL="1270000">
              <a:buNone/>
            </a:pPr>
            <a:r>
              <a:rPr sz="2000" b="1"/>
              <a:t>Note</a:t>
            </a:r>
          </a:p>
          <a:p>
            <a:pPr lvl="0" indent="0" marL="1270000">
              <a:buNone/>
            </a:pPr>
            <a:r>
              <a:rPr sz="2000"/>
              <a:t>📖 Whitlock &amp; Schluter, Ch. 5 — </a:t>
            </a:r>
            <a:r>
              <a:rPr sz="2000" i="1"/>
              <a:t>Probability</a:t>
            </a:r>
          </a:p>
        </p:txBody>
      </p:sp>
      <p:pic>
        <p:nvPicPr>
          <p:cNvPr descr="05_probability_inference_lecture_files/figure-pptx/l04-04-1.png" id="0" name="Picture 1"/>
          <p:cNvPicPr>
            <a:picLocks noGrp="1" noChangeAspect="1"/>
          </p:cNvPicPr>
          <p:nvPr/>
        </p:nvPicPr>
        <p:blipFill>
          <a:blip r:embed="rId2"/>
          <a:stretch>
            <a:fillRect/>
          </a:stretch>
        </p:blipFill>
        <p:spPr bwMode="auto">
          <a:xfrm>
            <a:off x="4648200" y="1270000"/>
            <a:ext cx="4038600" cy="32258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5_probability_inference_lecture_files/figure-pptx/l04-05-1.png" id="0" name="Picture 1"/>
          <p:cNvPicPr>
            <a:picLocks noGrp="1" noChangeAspect="1"/>
          </p:cNvPicPr>
          <p:nvPr/>
        </p:nvPicPr>
        <p:blipFill>
          <a:blip r:embed="rId2"/>
          <a:stretch>
            <a:fillRect/>
          </a:stretch>
        </p:blipFill>
        <p:spPr bwMode="auto">
          <a:xfrm>
            <a:off x="4648200" y="1270000"/>
            <a:ext cx="4038600" cy="32258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2 · Z-scores and the 68–95–99.7 Rule</a:t>
            </a:r>
          </a:p>
        </p:txBody>
      </p:sp>
      <p:sp>
        <p:nvSpPr>
          <p:cNvPr id="3" name="Content Placeholder 2"/>
          <p:cNvSpPr>
            <a:spLocks noGrp="1"/>
          </p:cNvSpPr>
          <p:nvPr>
            <p:ph idx="1" sz="half"/>
          </p:nvPr>
        </p:nvSpPr>
        <p:spPr/>
        <p:txBody>
          <a:bodyPr/>
          <a:lstStyle/>
          <a:p>
            <a:pPr lvl="0" indent="0" marL="0">
              <a:buNone/>
            </a:pPr>
            <a:r>
              <a:rPr/>
              <a:t>Let’s practice converting raw values to Z-scores using the Arctic grayling data.</a:t>
            </a:r>
          </a:p>
          <a:p>
            <a:pPr lvl="0" indent="0" marL="0">
              <a:buNone/>
            </a:pPr>
            <a:r>
              <a:rPr b="1"/>
              <a:t>Z Score = (length - mean) / standard deviation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Fish Data as Z-scores</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5_probability_inference_lecture_files/figure-pptx/l04-07-1.png" id="0" name="Picture 1"/>
          <p:cNvPicPr>
            <a:picLocks noGrp="1" noChangeAspect="1"/>
          </p:cNvPicPr>
          <p:nvPr/>
        </p:nvPicPr>
        <p:blipFill>
          <a:blip r:embed="rId2"/>
          <a:stretch>
            <a:fillRect/>
          </a:stretch>
        </p:blipFill>
        <p:spPr bwMode="auto">
          <a:xfrm>
            <a:off x="4648200" y="1270000"/>
            <a:ext cx="4038600" cy="3225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Z-score Results</a:t>
            </a:r>
          </a:p>
        </p:txBody>
      </p:sp>
      <p:sp>
        <p:nvSpPr>
          <p:cNvPr id="3" name="Content Placeholder 2"/>
          <p:cNvSpPr>
            <a:spLocks noGrp="1"/>
          </p:cNvSpPr>
          <p:nvPr>
            <p:ph idx="1" sz="half"/>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the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5_probability_inference_lecture_files/figure-pptx/l04-09-1.png" id="0" name="Picture 1"/>
          <p:cNvPicPr>
            <a:picLocks noGrp="1" noChangeAspect="1"/>
          </p:cNvPicPr>
          <p:nvPr/>
        </p:nvPicPr>
        <p:blipFill>
          <a:blip r:embed="rId2"/>
          <a:stretch>
            <a:fillRect/>
          </a:stretch>
        </p:blipFill>
        <p:spPr bwMode="auto">
          <a:xfrm>
            <a:off x="4800600" y="1625600"/>
            <a:ext cx="3695700" cy="2959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Standard Normal Distribution —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a:p>
            <a:pPr lvl="0" indent="0" marL="1270000">
              <a:buNone/>
            </a:pPr>
            <a:r>
              <a:rPr sz="2000" b="1"/>
              <a:t>Note</a:t>
            </a:r>
          </a:p>
          <a:p>
            <a:pPr lvl="0" indent="0" marL="1270000">
              <a:buNone/>
            </a:pPr>
            <a:r>
              <a:rPr sz="2000"/>
              <a:t>📖 Gotelli &amp; Ellison, Ch. 3 — </a:t>
            </a:r>
            <a:r>
              <a:rPr sz="2000" i="1"/>
              <a:t>Summary Statistics: Measures of Location and Spread</a:t>
            </a:r>
          </a:p>
        </p:txBody>
      </p:sp>
      <p:pic>
        <p:nvPicPr>
          <p:cNvPr descr="05_probability_inference_lecture_files/figure-pptx/l04-10-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5_probability_inference_lecture_files/figure-pptx/l04-11-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5_probability_inference_lecture_files/figure-pptx/l04-12-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Z-score Example — Reading the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5041900" y="1193800"/>
            <a:ext cx="32512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Z-scores in R — pnorm(), qnorm(), dnorm()</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Applying pnorm()/qnorm() to the Fish Data</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3 · Standard Error, Confidence Intervals &amp; the t-Distribution</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Population σ Is Unknown</a:t>
            </a:r>
          </a:p>
        </p:txBody>
      </p:sp>
      <p:sp>
        <p:nvSpPr>
          <p:cNvPr id="3" name="Content Placeholder 2"/>
          <p:cNvSpPr>
            <a:spLocks noGrp="1"/>
          </p:cNvSpPr>
          <p:nvPr>
            <p:ph idx="1" sz="half"/>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1270000">
              <a:buNone/>
            </a:pPr>
            <a:r>
              <a:rPr sz="2000" b="1"/>
              <a:t>Note</a:t>
            </a:r>
          </a:p>
          <a:p>
            <a:pPr lvl="0" indent="0" marL="1270000">
              <a:buNone/>
            </a:pPr>
            <a:r>
              <a:rPr sz="2000"/>
              <a:t>📖 Whitlock &amp; Schluter, Ch. 4 — </a:t>
            </a:r>
            <a:r>
              <a:rPr sz="2000" i="1"/>
              <a:t>Estimating with Uncertainty</a:t>
            </a:r>
          </a:p>
        </p:txBody>
      </p:sp>
      <p:pic>
        <p:nvPicPr>
          <p:cNvPr descr="images/clipboard-1052237789.png" id="0" name="Picture 1"/>
          <p:cNvPicPr>
            <a:picLocks noGrp="1" noChangeAspect="1"/>
          </p:cNvPicPr>
          <p:nvPr/>
        </p:nvPicPr>
        <p:blipFill>
          <a:blip r:embed="rId2"/>
          <a:stretch>
            <a:fillRect/>
          </a:stretch>
        </p:blipFill>
        <p:spPr bwMode="auto">
          <a:xfrm>
            <a:off x="5270500" y="1193800"/>
            <a:ext cx="27940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Understanding the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a:p>
            <a:pPr lvl="0" indent="0" marL="1270000">
              <a:buNone/>
            </a:pPr>
            <a:r>
              <a:rPr sz="2000" b="1"/>
              <a:t>Note</a:t>
            </a:r>
          </a:p>
          <a:p>
            <a:pPr lvl="0" indent="0" marL="1270000">
              <a:buNone/>
            </a:pPr>
            <a:r>
              <a:rPr sz="2000"/>
              <a:t>📖 Whitlock &amp; Schluter, Ch. 4 — </a:t>
            </a:r>
            <a:r>
              <a:rPr sz="2000" i="1"/>
              <a:t>Estimating with Uncertainty</a:t>
            </a:r>
          </a:p>
        </p:txBody>
      </p:sp>
      <p:pic>
        <p:nvPicPr>
          <p:cNvPr descr="05_probability_inference_lecture_files/figure-pptx/l04-13-1.png" id="0" name="Picture 1"/>
          <p:cNvPicPr>
            <a:picLocks noGrp="1" noChangeAspect="1"/>
          </p:cNvPicPr>
          <p:nvPr/>
        </p:nvPicPr>
        <p:blipFill>
          <a:blip r:embed="rId2"/>
          <a:stretch>
            <a:fillRect/>
          </a:stretch>
        </p:blipFill>
        <p:spPr bwMode="auto">
          <a:xfrm>
            <a:off x="4787900" y="1193800"/>
            <a:ext cx="37719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4902200" y="1193800"/>
            <a:ext cx="35306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4902200" y="1193800"/>
            <a:ext cx="35306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457200" y="1993900"/>
            <a:ext cx="4038600" cy="22352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118100" y="1625600"/>
            <a:ext cx="3073400" cy="29591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457200" y="1943100"/>
            <a:ext cx="4038600" cy="23241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118100" y="1625600"/>
            <a:ext cx="3073400" cy="29591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4902200" y="1193800"/>
            <a:ext cx="3530600" cy="3390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4 · Hypothesis Testing &amp; P-values — One-Tailed Test</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a:p>
            <a:pPr lvl="0" indent="0" marL="1270000">
              <a:buNone/>
            </a:pPr>
            <a:r>
              <a:rPr sz="2000" b="1"/>
              <a:t>Note</a:t>
            </a:r>
          </a:p>
          <a:p>
            <a:pPr lvl="0" indent="0" marL="1270000">
              <a:buNone/>
            </a:pPr>
            <a:r>
              <a:rPr sz="2000"/>
              <a:t>📖 Whitlock &amp; Schluter, Ch. 6 — </a:t>
            </a:r>
            <a:r>
              <a:rPr sz="2000" i="1"/>
              <a:t>Hypothesis Testing</a:t>
            </a:r>
            <a:r>
              <a:rPr sz="2000"/>
              <a:t>; Gotelli &amp; Ellison, Ch. 4 — </a:t>
            </a:r>
            <a:r>
              <a:rPr sz="2000" i="1"/>
              <a:t>Framing and Testing Hypotheses</a:t>
            </a:r>
          </a:p>
        </p:txBody>
      </p:sp>
      <p:pic>
        <p:nvPicPr>
          <p:cNvPr descr="05_probability_inference_lecture_files/figure-pptx/l04-17-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Hypothesis Testing — Two-Tailed Test</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5_probability_inference_lecture_files/figure-pptx/l04-19-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a:p>
            <a:pPr lvl="0" indent="0" marL="1270000">
              <a:buNone/>
            </a:pPr>
            <a:r>
              <a:rPr sz="2000" b="1"/>
              <a:t>Note</a:t>
            </a:r>
          </a:p>
          <a:p>
            <a:pPr lvl="0" indent="0" marL="1270000">
              <a:buNone/>
            </a:pPr>
            <a:r>
              <a:rPr sz="2000"/>
              <a:t>📖 Whitlock &amp; Schluter, Ch. 6 — </a:t>
            </a:r>
            <a:r>
              <a:rPr sz="2000" i="1"/>
              <a:t>Hypothesis Testing</a:t>
            </a:r>
          </a:p>
        </p:txBody>
      </p:sp>
      <p:pic>
        <p:nvPicPr>
          <p:cNvPr descr="05_probability_inference_lecture_files/figure-pptx/l04-22-1.png" id="0" name="Picture 1"/>
          <p:cNvPicPr>
            <a:picLocks noGrp="1" noChangeAspect="1"/>
          </p:cNvPicPr>
          <p:nvPr/>
        </p:nvPicPr>
        <p:blipFill>
          <a:blip r:embed="rId2"/>
          <a:stretch>
            <a:fillRect/>
          </a:stretch>
        </p:blipFill>
        <p:spPr bwMode="auto">
          <a:xfrm>
            <a:off x="4648200" y="1270000"/>
            <a:ext cx="4038600" cy="32258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5 · Type I/II Errors and Power</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a:p>
            <a:pPr lvl="0" indent="0" marL="1270000">
              <a:buNone/>
            </a:pPr>
            <a:r>
              <a:rPr sz="2000" b="1"/>
              <a:t>Note</a:t>
            </a:r>
          </a:p>
          <a:p>
            <a:pPr lvl="0" indent="0" marL="1270000">
              <a:buNone/>
            </a:pPr>
            <a:r>
              <a:rPr sz="2000"/>
              <a:t>📖 Whitlock &amp; Schluter, Ch. 6 — </a:t>
            </a:r>
            <a:r>
              <a:rPr sz="2000" i="1"/>
              <a:t>Hypothesis Testing</a:t>
            </a:r>
            <a:r>
              <a:rPr sz="2000"/>
              <a:t>; Gotelli &amp; Ellison, Ch. 4 — </a:t>
            </a:r>
            <a:r>
              <a:rPr sz="2000" i="1"/>
              <a:t>Framing and Testing Hypotheses</a:t>
            </a:r>
          </a:p>
        </p:txBody>
      </p:sp>
      <p:pic>
        <p:nvPicPr>
          <p:cNvPr descr="05_probability_inference_lecture_files/figure-pptx/l04-23-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Interpreting the Error Plot</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5_probability_inference_lecture_files/figure-pptx/l04-24-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5_probability_inference_lecture_files/figure-pptx/l04-26-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 and Additional Resources</a:t>
            </a:r>
          </a:p>
        </p:txBody>
      </p:sp>
      <p:sp>
        <p:nvSpPr>
          <p:cNvPr id="3" name="Content Placeholder 2"/>
          <p:cNvSpPr>
            <a:spLocks noGrp="1"/>
          </p:cNvSpPr>
          <p:nvPr>
            <p:ph idx="1" sz="half"/>
          </p:nvPr>
        </p:nvSpPr>
        <p:spPr/>
        <p:txBody>
          <a:bodyPr/>
          <a:lstStyle/>
          <a:p>
            <a:pPr lvl="0"/>
            <a:r>
              <a:rPr/>
              <a:t>Whitlock, M. C., &amp; Schluter, D. (2020). </a:t>
            </a:r>
            <a:r>
              <a:rPr i="1"/>
              <a:t>The Analysis of Biological Data</a:t>
            </a:r>
            <a:r>
              <a:rPr/>
              <a:t> (3rd ed.). Macmillan Learning.</a:t>
            </a:r>
          </a:p>
          <a:p>
            <a:pPr lvl="1"/>
            <a:r>
              <a:rPr/>
              <a:t>Chapter 4 — Estimating with Uncertainty (SE, confidence intervals)</a:t>
            </a:r>
          </a:p>
          <a:p>
            <a:pPr lvl="1"/>
            <a:r>
              <a:rPr/>
              <a:t>Chapter 5 — Probability (distributions, Z-scores)</a:t>
            </a:r>
          </a:p>
          <a:p>
            <a:pPr lvl="1"/>
            <a:r>
              <a:rPr/>
              <a:t>Chapter 6 — Hypothesis Testing (p-values, Type I/II errors, power)</a:t>
            </a:r>
          </a:p>
          <a:p>
            <a:pPr lvl="0"/>
            <a:r>
              <a:rPr/>
              <a:t>Gotelli, N. J., &amp; Ellison, A. M. (2012). </a:t>
            </a:r>
            <a:r>
              <a:rPr i="1"/>
              <a:t>A Primer of Ecological Statistics</a:t>
            </a:r>
            <a:r>
              <a:rPr/>
              <a:t> (2nd ed.). Sinauer Associates.</a:t>
            </a:r>
          </a:p>
          <a:p>
            <a:pPr lvl="1"/>
            <a:r>
              <a:rPr/>
              <a:t>Chapter 3 — Summary Statistics: Measures of Location and Spread</a:t>
            </a:r>
          </a:p>
          <a:p>
            <a:pPr lvl="1"/>
            <a:r>
              <a:rPr/>
              <a:t>Chapter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Every distribution, test, and rule of thumb in this lecture (68–95–99.7, Z-scores, SE, the t-distribution, p-values, Type I/II errors) is covered in these two texts — use them as your reference when you’re stuck on a formula or an interpretation.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Did you forget </a:t>
            </a:r>
            <a:r>
              <a:rPr>
                <a:latin typeface="Courier"/>
              </a:rPr>
              <a:t>na.rm = TRUE</a:t>
            </a:r>
            <a:r>
              <a:rPr/>
              <a:t>?</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5 — Probability &amp; Inference</dc:title>
  <dc:creator>Bill Perry</dc:creator>
  <cp:keywords/>
  <dc:description>Probability distributions and the logic of statistical inference: the standard normal distribution, Z-scores, standard error and confidence intervals, Student’s t-distribution, and hypothesis testing (p-values, Type I/II errors, power) — all on the Arctic grayling length dataset.</dc:description>
  <dcterms:created xsi:type="dcterms:W3CDTF">2026-08-21T15:06:35Z</dcterms:created>
  <dcterms:modified xsi:type="dcterms:W3CDTF">2026-08-21T15:06:35Z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5</vt:lpwstr>
  </property>
  <property fmtid="{D5CDD505-2E9C-101B-9397-08002B2CF9AE}" pid="12" name="subtitle">
    <vt:lpwstr>Z-scores, the t-distribution, confidence intervals, and hypothesis testing</vt:lpwstr>
  </property>
  <property fmtid="{D5CDD505-2E9C-101B-9397-08002B2CF9AE}" pid="13" name="toc-title">
    <vt:lpwstr>Table of contents</vt:lpwstr>
  </property>
  <property fmtid="{D5CDD505-2E9C-101B-9397-08002B2CF9AE}" pid="14" name="week">
    <vt:lpwstr>5</vt:lpwstr>
  </property>
</Properties>
</file>