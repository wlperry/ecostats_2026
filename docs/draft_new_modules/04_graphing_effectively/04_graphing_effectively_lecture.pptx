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 4 — Graphing Effectively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Boxplots, group comparisons, and saving a publication-ready figure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 you:</a:t>
            </a:r>
          </a:p>
          <a:p>
            <a:pPr lvl="0"/>
            <a:r>
              <a:rPr/>
              <a:t>Computed mean, median, SD, and SE — by hand and with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/>
              <a:t>Fixed the </a:t>
            </a:r>
            <a:r>
              <a:rPr>
                <a:latin typeface="Courier"/>
              </a:rPr>
              <a:t>length()</a:t>
            </a:r>
            <a:r>
              <a:rPr/>
              <a:t> trap with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/>
              <a:t>Got tidy per-group tables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Module 3</a:t>
            </a:r>
          </a:p>
          <a:p>
            <a:pPr lvl="0" indent="0" marL="1270000">
              <a:buNone/>
            </a:pPr>
            <a:r>
              <a:rPr sz="2000"/>
              <a:t>You now have real numbers describing lee vs. windward needles. Today we make those numbers </a:t>
            </a:r>
            <a:r>
              <a:rPr sz="2000" b="1"/>
              <a:t>visible</a:t>
            </a:r>
            <a:r>
              <a:rPr sz="2000"/>
              <a:t> — and save the result properly.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Today’s roadmap</a:t>
            </a:r>
          </a:p>
          <a:p>
            <a:pPr lvl="0" indent="-342900" marL="342900">
              <a:buAutoNum type="arabicPeriod"/>
            </a:pPr>
            <a:r>
              <a:rPr sz="2000"/>
              <a:t>The </a:t>
            </a:r>
            <a:r>
              <a:rPr sz="2000">
                <a:latin typeface="Courier"/>
              </a:rPr>
              <a:t>ggplot</a:t>
            </a:r>
            <a:r>
              <a:rPr sz="2000"/>
              <a:t> grammar, recapped</a:t>
            </a:r>
          </a:p>
          <a:p>
            <a:pPr lvl="0" indent="-342900" marL="342900">
              <a:buAutoNum type="arabicPeriod"/>
            </a:pPr>
            <a:r>
              <a:rPr sz="2000"/>
              <a:t>Boxplots done right — with raw points</a:t>
            </a:r>
          </a:p>
          <a:p>
            <a:pPr lvl="0" indent="-342900" marL="342900">
              <a:buAutoNum type="arabicPeriod"/>
            </a:pPr>
            <a:r>
              <a:rPr sz="2000"/>
              <a:t>Plotting mean ± SE directly</a:t>
            </a:r>
          </a:p>
          <a:p>
            <a:pPr lvl="0" indent="-342900" marL="342900">
              <a:buAutoNum type="arabicPeriod"/>
            </a:pPr>
            <a:r>
              <a:rPr sz="2000"/>
              <a:t>Faceting and a quick theme tour</a:t>
            </a:r>
          </a:p>
          <a:p>
            <a:pPr lvl="0" indent="-342900" marL="342900">
              <a:buAutoNum type="arabicPeriod"/>
            </a:pPr>
            <a:r>
              <a:rPr sz="2000">
                <a:latin typeface="Courier"/>
              </a:rPr>
              <a:t>ggsave()</a:t>
            </a:r>
            <a:r>
              <a:rPr sz="2000"/>
              <a:t>, for real this time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 · The </a:t>
            </a:r>
            <a:r>
              <a:rPr>
                <a:latin typeface="Courier"/>
              </a:rPr>
              <a:t>ggplot</a:t>
            </a:r>
            <a:r>
              <a:rPr/>
              <a:t> Grammar, Recapped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</a:t>
            </a:r>
            <a:r>
              <a:rPr>
                <a:latin typeface="Courier"/>
              </a:rPr>
              <a:t>ggplot</a:t>
            </a:r>
            <a:r>
              <a:rPr/>
              <a:t> is three pieces joined with </a:t>
            </a:r>
            <a:r>
              <a:rPr>
                <a:latin typeface="Courier"/>
              </a:rPr>
              <a:t>+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data</a:t>
            </a:r>
            <a:r>
              <a:rPr/>
              <a:t> — which data frame</a:t>
            </a:r>
          </a:p>
          <a:p>
            <a:pPr lvl="0" indent="-342900" marL="342900">
              <a:buAutoNum type="arabicPeriod"/>
            </a:pPr>
            <a:r>
              <a:rPr b="1"/>
              <a:t>aes()</a:t>
            </a:r>
            <a:r>
              <a:rPr/>
              <a:t> — which columns map to x, y, color, fill…</a:t>
            </a:r>
          </a:p>
          <a:p>
            <a:pPr lvl="0" indent="-342900" marL="342900">
              <a:buAutoNum type="arabicPeriod"/>
            </a:pPr>
            <a:r>
              <a:rPr b="1"/>
              <a:t>geom</a:t>
            </a:r>
            <a:r>
              <a:rPr/>
              <a:t> — how to draw it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Everything today is the </a:t>
            </a:r>
            <a:r>
              <a:rPr sz="2000" i="1"/>
              <a:t>same three pieces</a:t>
            </a:r>
            <a:r>
              <a:rPr sz="2000"/>
              <a:t> — we’re just adding more layers and more polish on top of them.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Recap from Module 1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 · Boxplot Anatomy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pine_box_plot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n_s))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(n = lee, s = windward)"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pine_box_plot</a:t>
            </a:r>
          </a:p>
        </p:txBody>
      </p:sp>
      <p:pic>
        <p:nvPicPr>
          <p:cNvPr descr="04_graphing_effectively_lecture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Boxplot anatomy:</a:t>
            </a:r>
          </a:p>
          <a:p>
            <a:pPr lvl="0"/>
            <a:r>
              <a:rPr/>
              <a:t>Middle line = </a:t>
            </a:r>
            <a:r>
              <a:rPr b="1"/>
              <a:t>median</a:t>
            </a:r>
          </a:p>
          <a:p>
            <a:pPr lvl="0"/>
            <a:r>
              <a:rPr/>
              <a:t>Box edges = 25th and 75th percentile (</a:t>
            </a:r>
            <a:r>
              <a:rPr b="1"/>
              <a:t>IQR</a:t>
            </a:r>
            <a:r>
              <a:rPr/>
              <a:t>)</a:t>
            </a:r>
          </a:p>
          <a:p>
            <a:pPr lvl="0"/>
            <a:r>
              <a:rPr/>
              <a:t>Whiskers = 1.5 × IQR</a:t>
            </a:r>
          </a:p>
          <a:p>
            <a:pPr lvl="0"/>
            <a:r>
              <a:rPr/>
              <a:t>Dots beyond whiskers =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📖 R4DS §9 — Layers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Boxplot + Raw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With only 6 needles per side per tree, does a boxplot alone show you everything? What might it hide?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pine_jitter_plot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n_s))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pine_jitter_plot</a:t>
            </a:r>
          </a:p>
        </p:txBody>
      </p:sp>
      <p:pic>
        <p:nvPicPr>
          <p:cNvPr descr="04_graphing_effectively_lecture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position_jitter(width = 0.15)</a:t>
            </a:r>
            <a:r>
              <a:rPr/>
              <a:t> spreads points sideways so they don’t overlap</a:t>
            </a:r>
          </a:p>
          <a:p>
            <a:pPr lvl="0"/>
            <a:r>
              <a:rPr>
                <a:latin typeface="Courier"/>
              </a:rPr>
              <a:t>seed = 42</a:t>
            </a:r>
            <a:r>
              <a:rPr/>
              <a:t> — same jitter layout every time you render</a:t>
            </a:r>
          </a:p>
          <a:p>
            <a:pPr lvl="0"/>
            <a:r>
              <a:rPr>
                <a:latin typeface="Courier"/>
              </a:rPr>
              <a:t>alpha = 0.6</a:t>
            </a:r>
            <a:r>
              <a:rPr/>
              <a:t> — semi-transparent, so overlapping points are still visible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Always show the raw points alongside a boxplot when </a:t>
            </a:r>
            <a:r>
              <a:rPr sz="2000" i="1"/>
              <a:t>n</a:t>
            </a:r>
            <a:r>
              <a:rPr sz="2000"/>
              <a:t> is small — every point matters, and a box alone can hide a bimodal or lopsided pattern.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 · Mapping Color by Group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pine_team_plot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group))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Side, Colored by Team"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"Field team"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pine_team_plot</a:t>
            </a:r>
          </a:p>
        </p:txBody>
      </p:sp>
      <p:pic>
        <p:nvPicPr>
          <p:cNvPr descr="04_graphing_effectively_lecture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color = group</a:t>
            </a:r>
            <a:r>
              <a:rPr/>
              <a:t> maps a </a:t>
            </a:r>
            <a:r>
              <a:rPr b="1"/>
              <a:t>third variable</a:t>
            </a:r>
            <a:r>
              <a:rPr/>
              <a:t> onto the plot — no new geom needed</a:t>
            </a:r>
          </a:p>
          <a:p>
            <a:pPr lvl="0"/>
            <a:r>
              <a:rPr>
                <a:latin typeface="Courier"/>
              </a:rPr>
              <a:t>ggplot</a:t>
            </a:r>
            <a:r>
              <a:rPr/>
              <a:t> auto-builds the legend and picks colors for you</a:t>
            </a:r>
          </a:p>
          <a:p>
            <a:pPr lvl="0"/>
            <a:r>
              <a:rPr/>
              <a:t>Mapping inside </a:t>
            </a:r>
            <a:r>
              <a:rPr>
                <a:latin typeface="Courier"/>
              </a:rPr>
              <a:t>aes()</a:t>
            </a:r>
            <a:r>
              <a:rPr/>
              <a:t> always means “vary this by data” — not “make everything this color”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color = "steelblue"</a:t>
            </a:r>
            <a:r>
              <a:rPr sz="2000"/>
              <a:t> </a:t>
            </a:r>
            <a:r>
              <a:rPr sz="2000" b="1"/>
              <a:t>outside</a:t>
            </a:r>
            <a:r>
              <a:rPr sz="2000"/>
              <a:t> </a:t>
            </a:r>
            <a:r>
              <a:rPr sz="2000">
                <a:latin typeface="Courier"/>
              </a:rPr>
              <a:t>aes()</a:t>
            </a:r>
            <a:r>
              <a:rPr sz="2000"/>
              <a:t> sets one fixed color. </a:t>
            </a:r>
            <a:r>
              <a:rPr sz="2000">
                <a:latin typeface="Courier"/>
              </a:rPr>
              <a:t>color = group</a:t>
            </a:r>
            <a:r>
              <a:rPr sz="2000"/>
              <a:t> </a:t>
            </a:r>
            <a:r>
              <a:rPr sz="2000" b="1"/>
              <a:t>inside</a:t>
            </a:r>
            <a:r>
              <a:rPr sz="2000"/>
              <a:t> </a:t>
            </a:r>
            <a:r>
              <a:rPr sz="2000">
                <a:latin typeface="Courier"/>
              </a:rPr>
              <a:t>aes()</a:t>
            </a:r>
            <a:r>
              <a:rPr sz="2000"/>
              <a:t> maps colors to a variable. Mixing these up is one of the most common </a:t>
            </a:r>
            <a:r>
              <a:rPr sz="2000">
                <a:latin typeface="Courier"/>
              </a:rPr>
              <a:t>ggplot</a:t>
            </a:r>
            <a:r>
              <a:rPr sz="2000"/>
              <a:t> mistakes.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 · Mean ± SE — Plotted Directly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pine_mean_se_plot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n_s))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Needle Length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pine_mean_se_plot</a:t>
            </a:r>
          </a:p>
        </p:txBody>
      </p:sp>
      <p:pic>
        <p:nvPicPr>
          <p:cNvPr descr="04_graphing_effectively_lecture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</a:t>
            </a:r>
            <a:r>
              <a:rPr b="1">
                <a:latin typeface="Courier"/>
              </a:rPr>
              <a:t>stat_summary()</a:t>
            </a:r>
            <a:r>
              <a:rPr b="1"/>
              <a:t> layers: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 =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large point at the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fun.data = mean_se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bars for ± 1 SE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stat_summary()</a:t>
            </a:r>
            <a:r>
              <a:rPr/>
              <a:t> computes the mean and SE </a:t>
            </a:r>
            <a:r>
              <a:rPr b="1"/>
              <a:t>for you</a:t>
            </a:r>
            <a:r>
              <a:rPr/>
              <a:t>, straight from the raw data — no </a:t>
            </a:r>
            <a:r>
              <a:rPr>
                <a:latin typeface="Courier"/>
              </a:rPr>
              <a:t>summarize()</a:t>
            </a:r>
            <a:r>
              <a:rPr/>
              <a:t> step required first.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This is the exact same mean and SE you calculated by hand in Module 3 — now you can see them.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5 · Faceting — One Panel Per Group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pine_facet_plot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n_s,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n_s))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group)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by Side, Faceted by Team"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pine_facet_plot</a:t>
            </a:r>
          </a:p>
        </p:txBody>
      </p:sp>
      <p:pic>
        <p:nvPicPr>
          <p:cNvPr descr="04_graphing_effectively_lecture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facet_wrap(~group)</a:t>
            </a:r>
            <a:r>
              <a:rPr/>
              <a:t> gives each field team its </a:t>
            </a:r>
            <a:r>
              <a:rPr b="1"/>
              <a:t>own small panel</a:t>
            </a:r>
          </a:p>
          <a:p>
            <a:pPr lvl="0"/>
            <a:r>
              <a:rPr/>
              <a:t>Same x/y scale across panels — easy to compare</a:t>
            </a:r>
          </a:p>
          <a:p>
            <a:pPr lvl="0"/>
            <a:r>
              <a:rPr/>
              <a:t>Useful the moment “does every group show the same pattern?” is the real question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A faceted plot answers a different question than a single colored plot: not just “is there an overall pattern,” but “does the pattern hold for </a:t>
            </a:r>
            <a:r>
              <a:rPr sz="2000" i="1"/>
              <a:t>everyone</a:t>
            </a:r>
            <a:r>
              <a:rPr sz="2000"/>
              <a:t>?”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6 · A Quick Theme Tour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pine_jitter_plot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04_graphing_effectively_lecture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74700" y="1625600"/>
            <a:ext cx="34163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pine_jitter_plot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04_graphing_effectively_lecture_files/figure-pptx/unnamed-chunk-9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74700" y="1625600"/>
            <a:ext cx="34163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theme_minimal()</a:t>
            </a:r>
            <a:r>
              <a:rPr/>
              <a:t> — light, few gridlines (what we’ve used so far)</a:t>
            </a:r>
          </a:p>
          <a:p>
            <a:pPr lvl="0"/>
            <a:r>
              <a:rPr>
                <a:latin typeface="Courier"/>
              </a:rPr>
              <a:t>theme_bw()</a:t>
            </a:r>
            <a:r>
              <a:rPr/>
              <a:t> — white background, black-and-white frame</a:t>
            </a:r>
          </a:p>
          <a:p>
            <a:pPr lvl="0"/>
            <a:r>
              <a:rPr>
                <a:latin typeface="Courier"/>
              </a:rPr>
              <a:t>theme_classic()</a:t>
            </a:r>
            <a:r>
              <a:rPr/>
              <a:t> — just x/y axis lines, no gridlines at all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theme changes </a:t>
            </a:r>
            <a:r>
              <a:rPr sz="2000" i="1"/>
              <a:t>appearance</a:t>
            </a:r>
            <a:r>
              <a:rPr sz="2000"/>
              <a:t> only — never the data or the statistics underneath. Pick one and use it consistently across a report.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7 · Saving a Real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"figures/pine_needle_boxplot.png"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pine_jitter_plot,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If you skip </a:t>
            </a:r>
            <a:r>
              <a:rPr sz="2000">
                <a:latin typeface="Courier"/>
              </a:rPr>
              <a:t>plot =</a:t>
            </a:r>
            <a:r>
              <a:rPr sz="2000"/>
              <a:t>, it saves whatever plot was drawn </a:t>
            </a:r>
            <a:r>
              <a:rPr sz="2000" i="1"/>
              <a:t>last</a:t>
            </a:r>
            <a:r>
              <a:rPr sz="2000"/>
              <a:t> — not necessarily the one you meant.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Always set </a:t>
            </a:r>
            <a:r>
              <a:rPr sz="2000">
                <a:latin typeface="Courier"/>
              </a:rPr>
              <a:t>width</a:t>
            </a:r>
            <a:r>
              <a:rPr sz="2000"/>
              <a:t>, </a:t>
            </a:r>
            <a:r>
              <a:rPr sz="2000">
                <a:latin typeface="Courier"/>
              </a:rPr>
              <a:t>height</a:t>
            </a:r>
            <a:r>
              <a:rPr sz="2000"/>
              <a:t>, </a:t>
            </a:r>
            <a:r>
              <a:rPr sz="2000">
                <a:latin typeface="Courier"/>
              </a:rPr>
              <a:t>units</a:t>
            </a:r>
            <a:r>
              <a:rPr sz="2000"/>
              <a:t>, and </a:t>
            </a:r>
            <a:r>
              <a:rPr sz="2000">
                <a:latin typeface="Courier"/>
              </a:rPr>
              <a:t>dpi</a:t>
            </a:r>
            <a:r>
              <a:rPr sz="2000"/>
              <a:t> explicitly. Letting </a:t>
            </a:r>
            <a:r>
              <a:rPr sz="2000">
                <a:latin typeface="Courier"/>
              </a:rPr>
              <a:t>ggsave()</a:t>
            </a:r>
            <a:r>
              <a:rPr sz="2000"/>
              <a:t> guess gives you a plot sized for your screen, not for a report or a poster.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Built boxplots with raw points overlaid, not hidden</a:t>
            </a:r>
          </a:p>
          <a:p>
            <a:pPr lvl="0"/>
            <a:r>
              <a:rPr/>
              <a:t>Mapped a third variable with </a:t>
            </a:r>
            <a:r>
              <a:rPr>
                <a:latin typeface="Courier"/>
              </a:rPr>
              <a:t>color =</a:t>
            </a:r>
            <a:r>
              <a:rPr/>
              <a:t> / </a:t>
            </a:r>
            <a:r>
              <a:rPr>
                <a:latin typeface="Courier"/>
              </a:rPr>
              <a:t>fill =</a:t>
            </a:r>
            <a:r>
              <a:rPr/>
              <a:t> inside </a:t>
            </a:r>
            <a:r>
              <a:rPr>
                <a:latin typeface="Courier"/>
              </a:rPr>
              <a:t>aes()</a:t>
            </a:r>
          </a:p>
          <a:p>
            <a:pPr lvl="0"/>
            <a:r>
              <a:rPr/>
              <a:t>Plotted mean ± SE directly with </a:t>
            </a:r>
            <a:r>
              <a:rPr>
                <a:latin typeface="Courier"/>
              </a:rPr>
              <a:t>stat_summary()</a:t>
            </a:r>
            <a:r>
              <a:rPr/>
              <a:t> — no separate summary table needed</a:t>
            </a:r>
          </a:p>
          <a:p>
            <a:pPr lvl="0"/>
            <a:r>
              <a:rPr/>
              <a:t>Faceted a plot with </a:t>
            </a:r>
            <a:r>
              <a:rPr>
                <a:latin typeface="Courier"/>
              </a:rPr>
              <a:t>facet_wrap()</a:t>
            </a:r>
            <a:r>
              <a:rPr/>
              <a:t> to check every group at once</a:t>
            </a:r>
          </a:p>
          <a:p>
            <a:pPr lvl="0"/>
            <a:r>
              <a:rPr/>
              <a:t>Compared themes, and saved a real, correctly-sized figure with </a:t>
            </a:r>
            <a:r>
              <a:rPr>
                <a:latin typeface="Courier"/>
              </a:rPr>
              <a:t>ggsave()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Finish the worksheet: build a mean ± SE plot faceted by </a:t>
            </a:r>
            <a:r>
              <a:rPr sz="2000">
                <a:latin typeface="Courier"/>
              </a:rPr>
              <a:t>group</a:t>
            </a:r>
            <a:r>
              <a:rPr sz="2000"/>
              <a:t>, pick a theme, and save it to </a:t>
            </a:r>
            <a:r>
              <a:rPr sz="2000">
                <a:latin typeface="Courier"/>
              </a:rPr>
              <a:t>figures/</a:t>
            </a:r>
            <a:r>
              <a:rPr sz="2000"/>
              <a:t> at 3×3in, 300 dpi.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Where this leads</a:t>
            </a:r>
          </a:p>
          <a:p>
            <a:pPr lvl="0" indent="0" marL="1270000">
              <a:buNone/>
            </a:pPr>
            <a:r>
              <a:rPr sz="2000"/>
              <a:t>You can now import, wrangle, describe, and visualize a dataset end to end. That full pipeline — raw data → clean → summarize → visualize — is the foundation every later statistical test builds 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 indent="-342900" marL="342900">
              <a:buAutoNum type="arabicPeriod"/>
            </a:pPr>
            <a:r>
              <a:rPr/>
              <a:t>Check the usual suspects: </a:t>
            </a:r>
            <a:r>
              <a:rPr>
                <a:latin typeface="Courier"/>
              </a:rPr>
              <a:t>library(tidyverse)</a:t>
            </a:r>
            <a:r>
              <a:rPr/>
              <a:t> loaded? Is </a:t>
            </a:r>
            <a:r>
              <a:rPr>
                <a:latin typeface="Courier"/>
              </a:rPr>
              <a:t>color</a:t>
            </a:r>
            <a:r>
              <a:rPr/>
              <a:t>/</a:t>
            </a:r>
            <a:r>
              <a:rPr>
                <a:latin typeface="Courier"/>
              </a:rPr>
              <a:t>fill</a:t>
            </a:r>
            <a:r>
              <a:rPr/>
              <a:t> inside </a:t>
            </a:r>
            <a:r>
              <a:rPr>
                <a:latin typeface="Courier"/>
              </a:rPr>
              <a:t>aes()</a:t>
            </a:r>
            <a:r>
              <a:rPr/>
              <a:t> when it should be?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help page</a:t>
            </a:r>
          </a:p>
          <a:p>
            <a:pPr lvl="0" indent="-342900" marL="342900">
              <a:buAutoNum type="arabicPeriod"/>
            </a:pPr>
            <a:r>
              <a:rPr/>
              <a:t>Bring the </a:t>
            </a:r>
            <a:r>
              <a:rPr b="1"/>
              <a:t>exact error</a:t>
            </a:r>
            <a:r>
              <a:rPr/>
              <a:t>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— Graphing Effectively</dc:title>
  <dc:creator>Bill Perry</dc:creator>
  <cp:keywords/>
  <dc:description>Boxplots with jittered raw points, mapping color and fill by group, plotting mean ± SE directly with stat_summary(), faceting, a quick theme tour, and a real ggsave() drill — all on the pine needle dataset.</dc:description>
  <dcterms:created xsi:type="dcterms:W3CDTF">2026-08-21T15:06:15Z</dcterms:created>
  <dcterms:modified xsi:type="dcterms:W3CDTF">2026-08-21T15:06:15Z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4</vt:lpwstr>
  </property>
  <property fmtid="{D5CDD505-2E9C-101B-9397-08002B2CF9AE}" pid="12" name="subtitle">
    <vt:lpwstr>Boxplots, group comparisons, and saving a publication-ready figure</vt:lpwstr>
  </property>
  <property fmtid="{D5CDD505-2E9C-101B-9397-08002B2CF9AE}" pid="13" name="toc-title">
    <vt:lpwstr>Table of contents</vt:lpwstr>
  </property>
  <property fmtid="{D5CDD505-2E9C-101B-9397-08002B2CF9AE}" pid="14" name="week">
    <vt:lpwstr>4</vt:lpwstr>
  </property>
</Properties>
</file>