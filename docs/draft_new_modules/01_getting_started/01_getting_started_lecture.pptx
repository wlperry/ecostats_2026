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1 —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r>
              <a:rPr sz="2000"/>
              <a:t> 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something science?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of reasoning toward that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1625600"/>
            <a:ext cx="1879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76900" y="1625600"/>
            <a:ext cx="1943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north/sheltered (lee)</a:t>
            </a:r>
            <a:r>
              <a:rPr/>
              <a:t> side of a tree vs. the </a:t>
            </a:r>
            <a:r>
              <a:rPr b="1"/>
              <a:t>south/exposed (windward)</a:t>
            </a:r>
            <a:r>
              <a:rPr/>
              <a:t> side:</a:t>
            </a:r>
          </a:p>
          <a:p>
            <a:pPr lvl="0"/>
            <a:r>
              <a:rPr b="1"/>
              <a:t>H₀ (null):</a:t>
            </a:r>
            <a:r>
              <a:rPr/>
              <a:t> No difference in needle length between the two sides.</a:t>
            </a:r>
          </a:p>
          <a:p>
            <a:pPr lvl="0"/>
            <a:r>
              <a:rPr b="1"/>
              <a:t>Hₐ (alternate):</a:t>
            </a:r>
            <a:r>
              <a:rPr/>
              <a:t> Needle length differs between the two sides.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not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7500" y="1193800"/>
            <a:ext cx="254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  <a:r>
              <a:rPr/>
              <a:t> No — that tree could just happen to have short needles. 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  <a:r>
              <a:rPr/>
              <a:t> 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lee side </a:t>
            </a:r>
            <a:r>
              <a:rPr sz="2000" b="1"/>
              <a:t>and</a:t>
            </a:r>
            <a:r>
              <a:rPr sz="2000"/>
              <a:t> the windward side of the same trees, using one agreed-on method — same height, same “mature needle” definition, same spot on the branch.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is the raw material — treat it that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Module 2,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folder per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  <a:r>
              <a:rPr/>
              <a:t> — 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 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 Without it, data are nearly useless — even to future-you.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Module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the engine, Positron is the dashboard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Enter. 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Names, comments, and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/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 with </a:t>
            </a:r>
            <a:r>
              <a:rPr>
                <a:latin typeface="Courier"/>
              </a:rPr>
              <a:t>?mean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Vectors, data types, and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console. </a:t>
            </a: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Bring the data 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(sheltered/lee) or </a:t>
            </a:r>
            <a:r>
              <a:rPr sz="2000">
                <a:latin typeface="Courier"/>
              </a:rPr>
              <a:t>"s"</a:t>
            </a:r>
            <a:r>
              <a:rPr sz="2000"/>
              <a:t> (exposed/windward)</a:t>
            </a:r>
          </a:p>
          <a:p>
            <a:pPr lvl="0"/>
            <a:r>
              <a:rPr sz="2000">
                <a:latin typeface="Courier"/>
              </a:rPr>
              <a:t>wind</a:t>
            </a:r>
            <a:r>
              <a:rPr sz="2000"/>
              <a:t> — </a:t>
            </a:r>
            <a:r>
              <a:rPr sz="2000">
                <a:latin typeface="Courier"/>
              </a:rPr>
              <a:t>"lee"</a:t>
            </a:r>
            <a:r>
              <a:rPr sz="2000"/>
              <a:t> or </a:t>
            </a:r>
            <a:r>
              <a:rPr sz="2000">
                <a:latin typeface="Courier"/>
              </a:rPr>
              <a:t>"wind"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before you trust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wind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lee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wind</a:t>
            </a:r>
            <a:r>
              <a:rPr sz="2000"/>
              <a:t>. Two columns encoding the same grouping. Useful redundancy, or something to simplify? We’ll revisit this in Module 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first plot: </a:t>
            </a:r>
            <a:r>
              <a:rPr>
                <a:latin typeface="Courier"/>
              </a:rPr>
              <a:t>ggplot</a:t>
            </a:r>
            <a:r>
              <a:rPr/>
              <a:t>, built in layers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1_getting_started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1_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wind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2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2026-08-21T15:06:41Z</dcterms:created>
  <dcterms:modified xsi:type="dcterms:W3CDTF">2026-08-21T15:06:41Z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subtitle">
    <vt:lpwstr>Asking a question, meeting R, and making your first graph</vt:lpwstr>
  </property>
  <property fmtid="{D5CDD505-2E9C-101B-9397-08002B2CF9AE}" pid="13" name="toc-title">
    <vt:lpwstr>Table of contents</vt:lpwstr>
  </property>
  <property fmtid="{D5CDD505-2E9C-101B-9397-08002B2CF9AE}" pid="14" name="week">
    <vt:lpwstr>1</vt:lpwstr>
  </property>
</Properties>
</file>