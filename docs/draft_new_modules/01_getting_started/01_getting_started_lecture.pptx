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1 — 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Asking a question, meeting R, and making your first graph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Biostatistics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This course teaches the whole pipeline: </a:t>
            </a:r>
            <a:r>
              <a:rPr b="1"/>
              <a:t>raw data → clean → summarize → visualize → test → report</a:t>
            </a:r>
          </a:p>
          <a:p>
            <a:pPr lvl="0"/>
            <a:r>
              <a:rPr/>
              <a:t>You do </a:t>
            </a:r>
            <a:r>
              <a:rPr b="1"/>
              <a:t>not</a:t>
            </a:r>
            <a:r>
              <a:rPr/>
              <a:t> need prior coding experience — everyone starts exactly here</a:t>
            </a:r>
          </a:p>
          <a:p>
            <a:pPr lvl="0"/>
            <a:r>
              <a:rPr/>
              <a:t>The only way to learn this is to </a:t>
            </a:r>
            <a:r>
              <a:rPr b="1"/>
              <a:t>type the code yourself</a:t>
            </a:r>
            <a:r>
              <a:rPr/>
              <a:t> and break it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  <a:r>
              <a:rPr sz="2000"/>
              <a:t> Every working scientist reads error messages and searches for answers every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Asking a good question</a:t>
            </a:r>
          </a:p>
          <a:p>
            <a:pPr lvl="0" indent="-342900" marL="342900">
              <a:buAutoNum type="arabicPeriod"/>
            </a:pPr>
            <a:r>
              <a:rPr sz="2000"/>
              <a:t>Organizing a project</a:t>
            </a:r>
          </a:p>
          <a:p>
            <a:pPr lvl="0" indent="-342900" marL="342900">
              <a:buAutoNum type="arabicPeriod"/>
            </a:pPr>
            <a:r>
              <a:rPr sz="2000"/>
              <a:t>Meeting R and Positron</a:t>
            </a:r>
          </a:p>
          <a:p>
            <a:pPr lvl="0" indent="-342900" marL="342900">
              <a:buAutoNum type="arabicPeriod"/>
            </a:pPr>
            <a:r>
              <a:rPr sz="2000"/>
              <a:t>Loading data and your first plot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 · Asking a Good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something science?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makes </a:t>
            </a:r>
            <a:r>
              <a:rPr b="1"/>
              <a:t>predictions</a:t>
            </a:r>
            <a:r>
              <a:rPr/>
              <a:t> and tests them with a </a:t>
            </a:r>
            <a:r>
              <a:rPr b="1"/>
              <a:t>falsifiable</a:t>
            </a:r>
            <a:r>
              <a:rPr/>
              <a:t> approach — statistics</a:t>
            </a:r>
          </a:p>
          <a:p>
            <a:pPr lvl="0"/>
            <a:r>
              <a:rPr/>
              <a:t>A claim that could never be shown wrong is not testable, and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 i="1"/>
              <a:t>“Needles on the sheltered side of a tree are longer”</a:t>
            </a:r>
            <a:r>
              <a:rPr/>
              <a:t> — testable ✅</a:t>
            </a:r>
          </a:p>
          <a:p>
            <a:pPr lvl="0"/>
            <a:r>
              <a:rPr i="1"/>
              <a:t>“The forest decides needle length”</a:t>
            </a:r>
            <a:r>
              <a:rPr/>
              <a:t> — not testable 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proven wrong. A good hypothesis is one you could disprove.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ways of reasoning toward that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Inductive (specific → general)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625600"/>
            <a:ext cx="1879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measure needles on a few trees, notice a pattern, and generalize: </a:t>
            </a:r>
            <a:r>
              <a:rPr i="1"/>
              <a:t>“needle length seems to vary with side of tree.”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Weakness:</a:t>
            </a:r>
            <a:r>
              <a:rPr sz="2000"/>
              <a:t> the pattern held in your sample — it is not guaranteed to hold everywhere.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Deductive (general → specific)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76900" y="1625600"/>
            <a:ext cx="1943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start from a general rule — </a:t>
            </a:r>
            <a:r>
              <a:rPr i="1"/>
              <a:t>“exposure affects needle length”</a:t>
            </a:r>
            <a:r>
              <a:rPr/>
              <a:t> — and predict what a new tree should show, then check.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Weakness:</a:t>
            </a:r>
            <a:r>
              <a:rPr sz="2000"/>
              <a:t> only as strong as the general rule you started from.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In practice we do both, back and forth</a:t>
            </a:r>
            <a:r>
              <a:rPr sz="2000"/>
              <a:t> — notice a pattern (induction), propose a rule, then test it on new data (deduction).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class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Pine needles on the </a:t>
            </a:r>
            <a:r>
              <a:rPr b="1"/>
              <a:t>north/sheltered (lee)</a:t>
            </a:r>
            <a:r>
              <a:rPr/>
              <a:t> side of a tree vs. the </a:t>
            </a:r>
            <a:r>
              <a:rPr b="1"/>
              <a:t>south/exposed (windward)</a:t>
            </a:r>
            <a:r>
              <a:rPr/>
              <a:t> side:</a:t>
            </a:r>
          </a:p>
          <a:p>
            <a:pPr lvl="0"/>
            <a:r>
              <a:rPr b="1"/>
              <a:t>H₀ (null):</a:t>
            </a:r>
            <a:r>
              <a:rPr/>
              <a:t> No difference in needle length between the two sides.</a:t>
            </a:r>
          </a:p>
          <a:p>
            <a:pPr lvl="0"/>
            <a:r>
              <a:rPr b="1"/>
              <a:t>Hₐ (alternate):</a:t>
            </a:r>
            <a:r>
              <a:rPr/>
              <a:t> Needle length differs between the two sides.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/>
              <a:t>H₀</a:t>
            </a:r>
            <a:r>
              <a:rPr sz="2000"/>
              <a:t> — the “nothing is happening” claim</a:t>
            </a:r>
          </a:p>
          <a:p>
            <a:pPr lvl="0"/>
            <a:r>
              <a:rPr sz="2000" b="1"/>
              <a:t>Hₐ</a:t>
            </a:r>
            <a:r>
              <a:rPr sz="2000"/>
              <a:t> — the claim we suspect might be true</a:t>
            </a:r>
          </a:p>
          <a:p>
            <a:pPr lvl="0"/>
            <a:r>
              <a:rPr sz="2000"/>
              <a:t>Note: Hₐ does </a:t>
            </a:r>
            <a:r>
              <a:rPr sz="2000" b="1"/>
              <a:t>not</a:t>
            </a:r>
            <a:r>
              <a:rPr sz="2000"/>
              <a:t> say </a:t>
            </a:r>
            <a:r>
              <a:rPr sz="2000" i="1"/>
              <a:t>which</a:t>
            </a:r>
            <a:r>
              <a:rPr sz="2000"/>
              <a:t> side is longer — that would be a </a:t>
            </a:r>
            <a:r>
              <a:rPr sz="2000" b="1"/>
              <a:t>prediction</a:t>
            </a:r>
            <a:r>
              <a:rPr sz="2000"/>
              <a:t>, a stronger, riskier claim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97500" y="1193800"/>
            <a:ext cx="254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Designing a defensible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Can we test this with needles from one tree?</a:t>
            </a:r>
            <a:r>
              <a:rPr/>
              <a:t> No — that tree could just happen to have short needles. Treating many needles from </a:t>
            </a:r>
            <a:r>
              <a:rPr i="1"/>
              <a:t>one</a:t>
            </a:r>
            <a:r>
              <a:rPr/>
              <a:t> tree as if they were independent replicates is called </a:t>
            </a:r>
            <a:r>
              <a:rPr b="1"/>
              <a:t>pseudoreplication</a:t>
            </a:r>
            <a:r>
              <a:rPr/>
              <a:t> (Hurlbert 1984).</a:t>
            </a:r>
          </a:p>
          <a:p>
            <a:pPr lvl="0"/>
            <a:r>
              <a:rPr b="1"/>
              <a:t>The tree — not the needle — is the unit of replication.</a:t>
            </a:r>
            <a:r>
              <a:rPr/>
              <a:t> We need needles from </a:t>
            </a:r>
            <a:r>
              <a:rPr i="1"/>
              <a:t>many</a:t>
            </a:r>
            <a:r>
              <a:rPr/>
              <a:t> trees, sampled the same way each time.</a:t>
            </a:r>
          </a:p>
          <a:p>
            <a:pPr lvl="0"/>
            <a:r>
              <a:rPr b="1"/>
              <a:t>Randomize</a:t>
            </a:r>
            <a:r>
              <a:rPr/>
              <a:t> which trees and branches you sample, so your own bias doesn’t sneak into the data.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Dependent vs. independent variable</a:t>
            </a:r>
          </a:p>
          <a:p>
            <a:pPr lvl="0"/>
            <a:r>
              <a:rPr sz="2000" b="1"/>
              <a:t>Independent (X):</a:t>
            </a:r>
            <a:r>
              <a:rPr sz="2000"/>
              <a:t> side of tree — what we group by</a:t>
            </a:r>
          </a:p>
          <a:p>
            <a:pPr lvl="0"/>
            <a:r>
              <a:rPr sz="2000" b="1"/>
              <a:t>Dependent (Y):</a:t>
            </a:r>
            <a:r>
              <a:rPr sz="2000"/>
              <a:t> needle length — what we measure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 in the field</a:t>
            </a:r>
          </a:p>
          <a:p>
            <a:pPr lvl="0" indent="0" marL="1270000">
              <a:buNone/>
            </a:pPr>
            <a:r>
              <a:rPr sz="2000"/>
              <a:t>Each group collects needles from the lee side </a:t>
            </a:r>
            <a:r>
              <a:rPr sz="2000" b="1"/>
              <a:t>and</a:t>
            </a:r>
            <a:r>
              <a:rPr sz="2000"/>
              <a:t> the windward side of the same trees, using one agreed-on method — same height, same “mature needle” definition, same spot on the branch.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 · Organizing Your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is the raw material — treat it that way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Decide your </a:t>
            </a:r>
            <a:r>
              <a:rPr b="1"/>
              <a:t>variable names and units before you collect anything</a:t>
            </a:r>
            <a:r>
              <a:rPr/>
              <a:t> — this is a </a:t>
            </a:r>
            <a:r>
              <a:rPr b="1"/>
              <a:t>controlled vocabulary</a:t>
            </a:r>
          </a:p>
          <a:p>
            <a:pPr lvl="0"/>
            <a:r>
              <a:rPr/>
              <a:t>Example: </a:t>
            </a:r>
            <a:r>
              <a:rPr>
                <a:latin typeface="Courier"/>
              </a:rPr>
              <a:t>length_mm</a:t>
            </a:r>
            <a:r>
              <a:rPr/>
              <a:t>, not </a:t>
            </a:r>
            <a:r>
              <a:rPr>
                <a:latin typeface="Courier"/>
              </a:rPr>
              <a:t>Length (mm)</a:t>
            </a:r>
            <a:r>
              <a:rPr/>
              <a:t> — no spaces, no units hidden in the header text, all lowercase</a:t>
            </a:r>
          </a:p>
          <a:p>
            <a:pPr lvl="0"/>
            <a:r>
              <a:rPr/>
              <a:t>Plan where data goes the moment you collect it — do not let it pile up in email or texts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few minutes of naming discipline today saves hours of confusion in Module 2, when we clean messy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Controlled vocabulary example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folder per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pine_project/
├── data/       ← raw files, never overwritten
├── scripts/    ← your .R code
└── figures/    ← plots you save</a:t>
            </a:r>
          </a:p>
          <a:p>
            <a:pPr lvl="0"/>
            <a:r>
              <a:rPr/>
              <a:t>Open this folder as your workspace in Positron (</a:t>
            </a:r>
            <a:r>
              <a:rPr b="1"/>
              <a:t>File → Open Folder…</a:t>
            </a:r>
            <a:r>
              <a:rPr/>
              <a:t>)</a:t>
            </a:r>
          </a:p>
          <a:p>
            <a:pPr lvl="0"/>
            <a:r>
              <a:rPr/>
              <a:t>Every file path then becomes </a:t>
            </a:r>
            <a:r>
              <a:rPr b="1"/>
              <a:t>relative</a:t>
            </a:r>
            <a:r>
              <a:rPr/>
              <a:t> — no more </a:t>
            </a:r>
            <a:r>
              <a:rPr>
                <a:latin typeface="Courier"/>
              </a:rPr>
              <a:t>C:/Users/.../Desktop/final_FINAL2.xlsx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Keep </a:t>
            </a:r>
            <a:r>
              <a:rPr sz="2000" b="1"/>
              <a:t>raw data untouched</a:t>
            </a:r>
            <a:r>
              <a:rPr sz="2000"/>
              <a:t>. R writes new, processed files — so you can always trace your steps back to the original numbers.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data: who collected it, when, how, with what instrument. Without it, data are nearly useless — even to future-you.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Preview</a:t>
            </a:r>
          </a:p>
          <a:p>
            <a:pPr lvl="0" indent="0" marL="1270000">
              <a:buNone/>
            </a:pPr>
            <a:r>
              <a:rPr sz="2000"/>
              <a:t>Tidy data — one row per observation, one column per variable — is the target we’re organizing toward. We’ll formalize this in Module 2.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 · Meet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the engine, Positron is the dashboard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— a free language for data and statistics</a:t>
            </a:r>
          </a:p>
          <a:p>
            <a:pPr lvl="0"/>
            <a:r>
              <a:rPr b="1"/>
              <a:t>Positron</a:t>
            </a:r>
            <a:r>
              <a:rPr/>
              <a:t> — the editor (IDE) you drive it through</a:t>
            </a:r>
          </a:p>
          <a:p>
            <a:pPr lvl="0"/>
            <a:r>
              <a:rPr/>
              <a:t>Four panes you’ll use constantly: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top-left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scripts live here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code actually runs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everything you’ve stored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Plots /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figures and project files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Integrated Development Environment. R is the car engine; Positron is the seat, wheel, and dashboard.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as a calculator, and storing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into the </a:t>
            </a:r>
            <a:r>
              <a:rPr b="1"/>
              <a:t>console</a:t>
            </a:r>
            <a:r>
              <a:rPr/>
              <a:t> and press Enter. To keep a value, give it a name with the </a:t>
            </a:r>
            <a:r>
              <a:rPr b="1"/>
              <a:t>assignment operator</a:t>
            </a:r>
            <a:r>
              <a:rPr/>
              <a:t>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</a:t>
            </a:r>
            <a:r>
              <a:rPr>
                <a:solidFill>
                  <a:srgbClr val="5E5E5E"/>
                </a:solidFill>
                <a:latin typeface="Courier"/>
              </a:rPr>
              <a:t>#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R is case-sensitive: </a:t>
            </a:r>
            <a:r>
              <a:rPr sz="2000">
                <a:latin typeface="Courier"/>
              </a:rPr>
              <a:t>x</a:t>
            </a:r>
            <a:r>
              <a:rPr sz="2000"/>
              <a:t> and </a:t>
            </a:r>
            <a:r>
              <a:rPr sz="2000">
                <a:latin typeface="Courier"/>
              </a:rPr>
              <a:t>X</a:t>
            </a:r>
            <a:r>
              <a:rPr sz="2000"/>
              <a:t> are different objects. Use </a:t>
            </a:r>
            <a:r>
              <a:rPr sz="2000">
                <a:latin typeface="Courier"/>
              </a:rPr>
              <a:t>&lt;-</a:t>
            </a:r>
            <a:r>
              <a:rPr sz="2000"/>
              <a:t>, not </a:t>
            </a:r>
            <a:r>
              <a:rPr sz="2000">
                <a:latin typeface="Courier"/>
              </a:rPr>
              <a:t>=</a:t>
            </a:r>
            <a:r>
              <a:rPr sz="2000"/>
              <a:t>, to assign.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= a named container holding a value. Look for it appear in the </a:t>
            </a:r>
            <a:r>
              <a:rPr sz="2000" b="1"/>
              <a:t>Environment</a:t>
            </a:r>
            <a:r>
              <a:rPr sz="2000"/>
              <a:t> pane the moment you create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Names, comments,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: </a:t>
            </a:r>
            <a:r>
              <a:rPr>
                <a:latin typeface="Courier"/>
              </a:rPr>
              <a:t>needle_length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  <a:r>
              <a:rPr/>
              <a:t> or </a:t>
            </a:r>
            <a:r>
              <a:rPr>
                <a:latin typeface="Courier"/>
              </a:rPr>
              <a:t>NeedleLength</a:t>
            </a:r>
          </a:p>
          <a:p>
            <a:pPr lvl="0"/>
            <a:r>
              <a:rPr/>
              <a:t>Anything after </a:t>
            </a:r>
            <a:r>
              <a:rPr>
                <a:latin typeface="Courier"/>
              </a:rPr>
              <a:t>#</a:t>
            </a:r>
            <a:r>
              <a:rPr/>
              <a:t> is a </a:t>
            </a:r>
            <a:r>
              <a:rPr b="1"/>
              <a:t>comment</a:t>
            </a:r>
            <a:r>
              <a:rPr/>
              <a:t> — a note for humans, ignored by R</a:t>
            </a:r>
          </a:p>
          <a:p>
            <a:pPr lvl="0"/>
            <a:r>
              <a:rPr/>
              <a:t>A </a:t>
            </a:r>
            <a:r>
              <a:rPr b="1"/>
              <a:t>function</a:t>
            </a:r>
            <a:r>
              <a:rPr/>
              <a:t> takes </a:t>
            </a:r>
            <a:r>
              <a:rPr b="1"/>
              <a:t>arguments</a:t>
            </a:r>
            <a:r>
              <a:rPr/>
              <a:t> in </a:t>
            </a:r>
            <a:r>
              <a:rPr>
                <a:latin typeface="Courier"/>
              </a:rPr>
              <a:t>()</a:t>
            </a:r>
            <a:r>
              <a:rPr/>
              <a:t> and returns a result. Stuck? Ask for help with </a:t>
            </a:r>
            <a:r>
              <a:rPr>
                <a:latin typeface="Courier"/>
              </a:rPr>
              <a:t>?mean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average of four needle lengths, in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needle_length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(needle_length)     </a:t>
            </a:r>
            <a:r>
              <a:rPr>
                <a:solidFill>
                  <a:srgbClr val="5E5E5E"/>
                </a:solidFill>
                <a:latin typeface="Courier"/>
              </a:rPr>
              <a:t># a function call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?mean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(mean)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Predict what </a:t>
            </a:r>
            <a:r>
              <a:rPr sz="2000">
                <a:latin typeface="Courier"/>
              </a:rPr>
              <a:t>round(3.14159, 2)</a:t>
            </a:r>
            <a:r>
              <a:rPr sz="2000"/>
              <a:t> returns before you run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/>
              <a:t>Comment</a:t>
            </a:r>
            <a:r>
              <a:rPr sz="2000"/>
              <a:t> — ignored by R, read by humans</a:t>
            </a:r>
          </a:p>
          <a:p>
            <a:pPr lvl="0"/>
            <a:r>
              <a:rPr sz="2000" b="1"/>
              <a:t>Argument</a:t>
            </a:r>
            <a:r>
              <a:rPr sz="2000"/>
              <a:t> — an input handed to a function</a:t>
            </a:r>
          </a:p>
          <a:p>
            <a:pPr lvl="0"/>
            <a:r>
              <a:rPr sz="2000" b="1"/>
              <a:t>Function</a:t>
            </a:r>
            <a:r>
              <a:rPr sz="2000"/>
              <a:t> — a named, reusable operation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Vectors, data types, and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row of values made with </a:t>
            </a:r>
            <a:r>
              <a:rPr>
                <a:latin typeface="Courier"/>
              </a:rPr>
              <a:t>c()</a:t>
            </a:r>
            <a:r>
              <a:rPr/>
              <a:t> — a spreadsheet column is really just a vector: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length_mm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      </a:t>
            </a:r>
            <a:r>
              <a:rPr>
                <a:solidFill>
                  <a:srgbClr val="5E5E5E"/>
                </a:solidFill>
                <a:latin typeface="Courier"/>
              </a:rPr>
              <a:t># numeric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)            </a:t>
            </a:r>
            <a:r>
              <a:rPr>
                <a:solidFill>
                  <a:srgbClr val="5E5E5E"/>
                </a:solidFill>
                <a:latin typeface="Courier"/>
              </a:rPr>
              <a:t># character — needs quotes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console forgets</a:t>
            </a:r>
            <a:r>
              <a:rPr/>
              <a:t>. 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remembers:</a:t>
            </a:r>
          </a:p>
          <a:p>
            <a:pPr lvl="0"/>
            <a:r>
              <a:rPr b="1"/>
              <a:t>File → New File → R File</a:t>
            </a:r>
            <a:r>
              <a:rPr/>
              <a:t>, save it, run lines with Ctrl/Cmd+Enter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Without quotes, </a:t>
            </a:r>
            <a:r>
              <a:rPr sz="2000">
                <a:latin typeface="Courier"/>
              </a:rPr>
              <a:t>s</a:t>
            </a:r>
            <a:r>
              <a:rPr sz="2000"/>
              <a:t> means “find an object called s,” not the text “s.” R will error if no such object exists.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Console = scratch paper. Script = the lab notebook you keep and rerun.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Install once</a:t>
            </a:r>
            <a:r>
              <a:rPr/>
              <a:t>, in the console. </a:t>
            </a:r>
            <a:r>
              <a:rPr b="1"/>
              <a:t>Load every session</a:t>
            </a:r>
            <a:r>
              <a:rPr/>
              <a:t>, at the top of every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wrangling + ggplot2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 i="1"/>
              <a:t>“could not find function…”</a:t>
            </a:r>
            <a:r>
              <a:rPr sz="2000"/>
              <a:t> almost always means you forgot the </a:t>
            </a:r>
            <a:r>
              <a:rPr sz="2000">
                <a:latin typeface="Courier"/>
              </a:rPr>
              <a:t>library()</a:t>
            </a:r>
            <a:r>
              <a:rPr sz="2000"/>
              <a:t> line for that session.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/>
              <a:t>Package</a:t>
            </a:r>
            <a:r>
              <a:rPr sz="2000"/>
              <a:t> — the installed toolbox (once)</a:t>
            </a:r>
          </a:p>
          <a:p>
            <a:pPr lvl="0"/>
            <a:r>
              <a:rPr sz="2000" b="1"/>
              <a:t>Library</a:t>
            </a:r>
            <a:r>
              <a:rPr sz="2000"/>
              <a:t> — loading it for today’s session (every time)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 · Load Data and Make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Bring the data in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the file in </a:t>
            </a:r>
            <a:r>
              <a:rPr>
                <a:latin typeface="Courier"/>
              </a:rPr>
              <a:t>data/</a:t>
            </a:r>
            <a:r>
              <a:rPr/>
              <a:t>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read_csv()</a:t>
            </a:r>
            <a:r>
              <a:rPr sz="2000"/>
              <a:t> comes free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Our columns</a:t>
            </a:r>
          </a:p>
          <a:p>
            <a:pPr lvl="0"/>
            <a:r>
              <a:rPr sz="2000">
                <a:latin typeface="Courier"/>
              </a:rPr>
              <a:t>n_s</a:t>
            </a:r>
            <a:r>
              <a:rPr sz="2000"/>
              <a:t> — </a:t>
            </a:r>
            <a:r>
              <a:rPr sz="2000">
                <a:latin typeface="Courier"/>
              </a:rPr>
              <a:t>"n"</a:t>
            </a:r>
            <a:r>
              <a:rPr sz="2000"/>
              <a:t> (sheltered/lee) or </a:t>
            </a:r>
            <a:r>
              <a:rPr sz="2000">
                <a:latin typeface="Courier"/>
              </a:rPr>
              <a:t>"s"</a:t>
            </a:r>
            <a:r>
              <a:rPr sz="2000"/>
              <a:t> (exposed/windward)</a:t>
            </a:r>
          </a:p>
          <a:p>
            <a:pPr lvl="0"/>
            <a:r>
              <a:rPr sz="2000">
                <a:latin typeface="Courier"/>
              </a:rPr>
              <a:t>wind</a:t>
            </a:r>
            <a:r>
              <a:rPr sz="2000"/>
              <a:t> — </a:t>
            </a:r>
            <a:r>
              <a:rPr sz="2000">
                <a:latin typeface="Courier"/>
              </a:rPr>
              <a:t>"lee"</a:t>
            </a:r>
            <a:r>
              <a:rPr sz="2000"/>
              <a:t> or </a:t>
            </a:r>
            <a:r>
              <a:rPr sz="2000">
                <a:latin typeface="Courier"/>
              </a:rPr>
              <a:t>"wind"</a:t>
            </a:r>
            <a:r>
              <a:rPr sz="2000"/>
              <a:t>, same grouping said a different way</a:t>
            </a:r>
          </a:p>
          <a:p>
            <a:pPr lvl="0"/>
            <a:r>
              <a:rPr sz="2000">
                <a:latin typeface="Courier"/>
              </a:rPr>
              <a:t>length_mm</a:t>
            </a:r>
            <a:r>
              <a:rPr sz="2000"/>
              <a:t> — needle length in millimeters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before you trust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
Columns: 6
$ date      &lt;chr&gt; "3/20/25", "3/20/25", "3/20/25", "3/20/25", "3/20/25", "3/20…
$ group     &lt;chr&gt; "cephalopods", "cephalopods", "cephalopods", "cephalopods", …
$ n_s       &lt;chr&gt; "n", "n", "n", "n", "n", "n", "s", "s", "s", "s", "s", "s", …
$ wind      &lt;chr&gt; "lee", "lee", "lee", "lee", "lee", "lee", "wind", "wind", "w…
$ tree_no   &lt;dbl&gt; 1, 1, 1, 1, 1, 1, 1, 1, 1, 1, 1, 1, 2, 2, 2, 2, 2, 2, 2, 2, …
$ length_mm &lt;dbl&gt; 20, 21, 23, 25, 21, 16, 15, 16, 14, 17, 13, 15, 19, 18, 20, …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48  6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n_s</a:t>
            </a:r>
            <a:r>
              <a:rPr sz="2000"/>
              <a:t> and </a:t>
            </a:r>
            <a:r>
              <a:rPr sz="2000">
                <a:latin typeface="Courier"/>
              </a:rPr>
              <a:t>wind</a:t>
            </a:r>
            <a:r>
              <a:rPr sz="2000"/>
              <a:t> always travel together — </a:t>
            </a:r>
            <a:r>
              <a:rPr sz="2000">
                <a:latin typeface="Courier"/>
              </a:rPr>
              <a:t>n</a:t>
            </a:r>
            <a:r>
              <a:rPr sz="2000"/>
              <a:t> with </a:t>
            </a:r>
            <a:r>
              <a:rPr sz="2000">
                <a:latin typeface="Courier"/>
              </a:rPr>
              <a:t>lee</a:t>
            </a:r>
            <a:r>
              <a:rPr sz="2000"/>
              <a:t>, </a:t>
            </a:r>
            <a:r>
              <a:rPr sz="2000">
                <a:latin typeface="Courier"/>
              </a:rPr>
              <a:t>s</a:t>
            </a:r>
            <a:r>
              <a:rPr sz="2000"/>
              <a:t> with </a:t>
            </a:r>
            <a:r>
              <a:rPr sz="2000">
                <a:latin typeface="Courier"/>
              </a:rPr>
              <a:t>wind</a:t>
            </a:r>
            <a:r>
              <a:rPr sz="2000"/>
              <a:t>. Two columns encoding the same grouping. Useful redundancy, or something to simplify? We’ll revisit this in Module 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 in </a:t>
            </a:r>
            <a:r>
              <a:rPr sz="2000">
                <a:latin typeface="Courier"/>
              </a:rPr>
              <a:t>glimpse()</a:t>
            </a:r>
            <a:r>
              <a:rPr sz="2000"/>
              <a:t>, a stray letter or comma is hiding in that column.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first plot: </a:t>
            </a:r>
            <a:r>
              <a:rPr>
                <a:latin typeface="Courier"/>
              </a:rPr>
              <a:t>ggplot</a:t>
            </a:r>
            <a:r>
              <a:rPr/>
              <a:t>, built in layers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</a:t>
            </a:r>
            <a:r>
              <a:rPr>
                <a:latin typeface="Courier"/>
              </a:rPr>
              <a:t>ggplot</a:t>
            </a:r>
            <a:r>
              <a:rPr/>
              <a:t> needs three things,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</a:t>
            </a:r>
          </a:p>
          <a:p>
            <a:pPr lvl="0" indent="-342900" marL="342900">
              <a:buAutoNum type="arabicPeriod"/>
            </a:pPr>
            <a:r>
              <a:rPr b="1"/>
              <a:t>aes()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1_getting_started_lecture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+</a:t>
            </a:r>
            <a:r>
              <a:rPr sz="2000"/>
              <a:t> sits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 i="1"/>
              <a:t>Seeing</a:t>
            </a:r>
            <a:r>
              <a:rPr sz="2000"/>
              <a:t> your data is the single most important habit in this course — before you summarize or test anything, plot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layer at a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wind exposure"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01_getting_started_lecture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wind</a:t>
            </a:r>
            <a:r>
              <a:rPr sz="2000"/>
              <a:t> for </a:t>
            </a:r>
            <a:r>
              <a:rPr sz="2000">
                <a:latin typeface="Courier"/>
              </a:rPr>
              <a:t>group</a:t>
            </a:r>
            <a:r>
              <a:rPr sz="2000"/>
              <a:t>. What does that plot tell you instead?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boxplot shows the summary; the jittered points show every real value underneath it. Show both when you can.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Save your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"figures/needle_length.png"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needle_plot,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Always use </a:t>
            </a:r>
            <a:r>
              <a:rPr sz="2000">
                <a:latin typeface="Courier"/>
              </a:rPr>
              <a:t>dpi = 300</a:t>
            </a:r>
            <a:r>
              <a:rPr sz="2000"/>
              <a:t> — print/poster quality.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File format tip</a:t>
            </a:r>
          </a:p>
          <a:p>
            <a:pPr lvl="0" indent="0" marL="1270000">
              <a:buNone/>
            </a:pPr>
            <a:r>
              <a:rPr sz="2000"/>
              <a:t>Save figures as </a:t>
            </a:r>
            <a:r>
              <a:rPr sz="2000" b="1"/>
              <a:t>PNG</a:t>
            </a:r>
            <a:r>
              <a:rPr sz="2000"/>
              <a:t> for reports and submissions.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Turned a question into a testable </a:t>
            </a:r>
            <a:r>
              <a:rPr b="1"/>
              <a:t>H₀ / Hₐ</a:t>
            </a:r>
          </a:p>
          <a:p>
            <a:pPr lvl="0"/>
            <a:r>
              <a:rPr/>
              <a:t>Organized a project folder with </a:t>
            </a:r>
            <a:r>
              <a:rPr b="1"/>
              <a:t>data/scripts/figures</a:t>
            </a:r>
          </a:p>
          <a:p>
            <a:pPr lvl="0"/>
            <a:r>
              <a:rPr/>
              <a:t>Ran your first R code — objects, functions, vectors, packages</a:t>
            </a:r>
          </a:p>
          <a:p>
            <a:pPr lvl="0"/>
            <a:r>
              <a:rPr/>
              <a:t>Loaded real data and made — and saved — your </a:t>
            </a:r>
            <a:r>
              <a:rPr b="1"/>
              <a:t>first </a:t>
            </a:r>
            <a:r>
              <a:rPr b="1">
                <a:latin typeface="Courier"/>
              </a:rPr>
              <a:t>ggplot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load </a:t>
            </a:r>
            <a:r>
              <a:rPr sz="2000">
                <a:latin typeface="Courier"/>
              </a:rPr>
              <a:t>pine_needles.csv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more plot — </a:t>
            </a:r>
            <a:r>
              <a:rPr sz="2000">
                <a:latin typeface="Courier"/>
              </a:rPr>
              <a:t>length_mm</a:t>
            </a:r>
            <a:r>
              <a:rPr sz="2000"/>
              <a:t> by </a:t>
            </a:r>
            <a:r>
              <a:rPr sz="2000">
                <a:latin typeface="Courier"/>
              </a:rPr>
              <a:t>n_s</a:t>
            </a:r>
            <a:r>
              <a:rPr sz="2000"/>
              <a:t> this time.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Module 2</a:t>
            </a:r>
          </a:p>
          <a:p>
            <a:pPr lvl="0"/>
            <a:r>
              <a:rPr sz="2000">
                <a:latin typeface="Courier"/>
              </a:rPr>
              <a:t>filter()</a:t>
            </a:r>
            <a:r>
              <a:rPr sz="2000"/>
              <a:t>, </a:t>
            </a:r>
            <a:r>
              <a:rPr sz="2000">
                <a:latin typeface="Courier"/>
              </a:rPr>
              <a:t>select()</a:t>
            </a:r>
            <a:r>
              <a:rPr sz="2000"/>
              <a:t>, </a:t>
            </a:r>
            <a:r>
              <a:rPr sz="2000">
                <a:latin typeface="Courier"/>
              </a:rPr>
              <a:t>mutate()</a:t>
            </a:r>
            <a:r>
              <a:rPr sz="2000"/>
              <a:t>, </a:t>
            </a:r>
            <a:r>
              <a:rPr sz="2000">
                <a:latin typeface="Courier"/>
              </a:rPr>
              <a:t>arrange()</a:t>
            </a:r>
          </a:p>
          <a:p>
            <a:pPr lvl="0"/>
            <a:r>
              <a:rPr sz="2000"/>
              <a:t>Cleaning a genuinely messy version of this dataset</a:t>
            </a:r>
          </a:p>
          <a:p>
            <a:pPr lvl="0"/>
            <a:r>
              <a:rPr sz="2000"/>
              <a:t>The pipe </a:t>
            </a:r>
            <a:r>
              <a:rPr sz="2000">
                <a:latin typeface="Courier"/>
              </a:rPr>
              <a:t>|&gt;</a:t>
            </a:r>
            <a:r>
              <a:rPr sz="2000"/>
              <a:t> and building a pipeline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</a:t>
            </a:r>
            <a:r>
              <a:rPr>
                <a:latin typeface="Courier"/>
              </a:rPr>
              <a:t>library(tidyverse)</a:t>
            </a:r>
            <a:r>
              <a:rPr/>
              <a:t> loaded?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help page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Getting Started</dc:title>
  <dc:creator>Bill Perry</dc:creator>
  <cp:keywords/>
  <dc:description>A question worth testing, a project worth organizing, and a first look at R, Positron, and ggplot — all built around one pine needle experiment.</dc:description>
  <dcterms:created xsi:type="dcterms:W3CDTF">2026-08-20T19:14:45Z</dcterms:created>
  <dcterms:modified xsi:type="dcterms:W3CDTF">2026-08-20T19:14:45Z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</vt:lpwstr>
  </property>
  <property fmtid="{D5CDD505-2E9C-101B-9397-08002B2CF9AE}" pid="12" name="subtitle">
    <vt:lpwstr>Asking a question, meeting R, and making your first graph</vt:lpwstr>
  </property>
  <property fmtid="{D5CDD505-2E9C-101B-9397-08002B2CF9AE}" pid="13" name="toc-title">
    <vt:lpwstr>Table of contents</vt:lpwstr>
  </property>
  <property fmtid="{D5CDD505-2E9C-101B-9397-08002B2CF9AE}" pid="14" name="week">
    <vt:lpwstr>1</vt:lpwstr>
  </property>
</Properties>
</file>