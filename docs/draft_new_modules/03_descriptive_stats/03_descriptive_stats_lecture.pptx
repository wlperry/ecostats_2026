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3 — Describing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Mean, spread, counting correctly, and group summaries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Imported data two ways (</a:t>
            </a:r>
            <a:r>
              <a:rPr>
                <a:latin typeface="Courier"/>
              </a:rPr>
              <a:t>read_csv()</a:t>
            </a:r>
            <a:r>
              <a:rPr/>
              <a:t>, </a:t>
            </a:r>
            <a:r>
              <a:rPr>
                <a:latin typeface="Courier"/>
              </a:rPr>
              <a:t>read_excel()</a:t>
            </a:r>
            <a:r>
              <a:rPr/>
              <a:t>)</a:t>
            </a:r>
          </a:p>
          <a:p>
            <a:pPr lvl="0"/>
            <a:r>
              <a:rPr/>
              <a:t>Wrangled with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</a:p>
          <a:p>
            <a:pPr lvl="0"/>
            <a:r>
              <a:rPr/>
              <a:t>Caught duplicate rows with </a:t>
            </a:r>
            <a:r>
              <a:rPr>
                <a:latin typeface="Courier"/>
              </a:rPr>
              <a:t>distinct()</a:t>
            </a:r>
          </a:p>
          <a:p>
            <a:pPr lvl="0"/>
            <a:r>
              <a:rPr/>
              <a:t>Saved a new file with </a:t>
            </a:r>
            <a:r>
              <a:rPr>
                <a:latin typeface="Courier"/>
              </a:rPr>
              <a:t>write_csv()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Module 2</a:t>
            </a:r>
          </a:p>
          <a:p>
            <a:pPr lvl="0" indent="0" marL="1270000">
              <a:buNone/>
            </a:pPr>
            <a:r>
              <a:rPr sz="2000"/>
              <a:t>You can reshape a dataset and hand off a clean file. Today we start </a:t>
            </a:r>
            <a:r>
              <a:rPr sz="2000" b="1"/>
              <a:t>describing</a:t>
            </a:r>
            <a:r>
              <a:rPr sz="2000"/>
              <a:t> it — the step that comes before any formal test.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Mean and median</a:t>
            </a:r>
          </a:p>
          <a:p>
            <a:pPr lvl="0" indent="-342900" marL="342900">
              <a:buAutoNum type="arabicPeriod"/>
            </a:pPr>
            <a:r>
              <a:rPr sz="2000"/>
              <a:t>Variance and standard deviation</a:t>
            </a:r>
          </a:p>
          <a:p>
            <a:pPr lvl="0" indent="-342900" marL="342900">
              <a:buAutoNum type="arabicPeriod"/>
            </a:pPr>
            <a:r>
              <a:rPr sz="2000"/>
              <a:t>The </a:t>
            </a:r>
            <a:r>
              <a:rPr sz="2000">
                <a:latin typeface="Courier"/>
              </a:rPr>
              <a:t>length()</a:t>
            </a:r>
            <a:r>
              <a:rPr sz="2000"/>
              <a:t> trap — and the fix</a:t>
            </a:r>
          </a:p>
          <a:p>
            <a:pPr lvl="0" indent="-342900" marL="342900">
              <a:buAutoNum type="arabicPeriod"/>
            </a:pPr>
            <a:r>
              <a:rPr sz="2000"/>
              <a:t>Standard error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 · Our Question,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H₀:</a:t>
            </a:r>
            <a:r>
              <a:rPr/>
              <a:t> No difference in needle length between the lee and windward sides</a:t>
            </a:r>
          </a:p>
          <a:p>
            <a:pPr lvl="0"/>
            <a:r>
              <a:rPr b="1"/>
              <a:t>Hₐ:</a:t>
            </a:r>
            <a:r>
              <a:rPr/>
              <a:t> Needle length differs between the two sides</a:t>
            </a:r>
          </a:p>
          <a:p>
            <a:pPr lvl="0" indent="0" marL="0">
              <a:buNone/>
            </a:pPr>
            <a:r>
              <a:rPr/>
              <a:t>Before we can formally </a:t>
            </a:r>
            <a:r>
              <a:rPr i="1"/>
              <a:t>test</a:t>
            </a:r>
            <a:r>
              <a:rPr/>
              <a:t> that with statistics, we need to </a:t>
            </a:r>
            <a:r>
              <a:rPr i="1"/>
              <a:t>describe</a:t>
            </a:r>
            <a:r>
              <a:rPr/>
              <a:t> what we actually measured.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Plan for this unit</a:t>
            </a:r>
          </a:p>
          <a:p>
            <a:pPr lvl="0" indent="-342900" marL="342900">
              <a:buAutoNum type="arabicPeriod"/>
            </a:pPr>
            <a:r>
              <a:rPr sz="2000" b="1"/>
              <a:t>Today</a:t>
            </a:r>
            <a:r>
              <a:rPr sz="2000"/>
              <a:t> — describe the data: center, spread, and group summaries</a:t>
            </a:r>
          </a:p>
          <a:p>
            <a:pPr lvl="0" indent="-342900" marL="342900">
              <a:buAutoNum type="arabicPeriod"/>
            </a:pPr>
            <a:r>
              <a:rPr sz="2000" b="1"/>
              <a:t>A later module</a:t>
            </a:r>
            <a:r>
              <a:rPr sz="2000"/>
              <a:t> — formally test H₀ vs. Hₐ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n_s</a:t>
            </a:r>
            <a:r>
              <a:rPr sz="2000"/>
              <a:t> codes lee (</a:t>
            </a:r>
            <a:r>
              <a:rPr sz="2000">
                <a:latin typeface="Courier"/>
              </a:rPr>
              <a:t>n</a:t>
            </a:r>
            <a:r>
              <a:rPr sz="2000"/>
              <a:t>) vs. windward (</a:t>
            </a:r>
            <a:r>
              <a:rPr sz="2000">
                <a:latin typeface="Courier"/>
              </a:rPr>
              <a:t>s</a:t>
            </a:r>
            <a:r>
              <a:rPr sz="2000"/>
              <a:t>); </a:t>
            </a:r>
            <a:r>
              <a:rPr sz="2000">
                <a:latin typeface="Courier"/>
              </a:rPr>
              <a:t>group</a:t>
            </a:r>
            <a:r>
              <a:rPr sz="2000"/>
              <a:t> is the field team name. Four teams, four trees, six needles per side.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 · The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every value,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it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  <a:r>
                  <a:rPr/>
                  <a:t> Values 5, 6, 7, 8, </a:t>
                </a:r>
                <a:r>
                  <a:rPr b="1"/>
                  <a:t>50</a:t>
                </a:r>
                <a:r>
                  <a:rPr/>
                  <a:t> → mean = 15.2. Is that a fair summary? Not really — the outlier dominates.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✅ Why it matters</a:t>
                </a:r>
              </a:p>
              <a:p>
                <a:pPr lvl="0" indent="0" marL="1270000">
                  <a:buNone/>
                </a:pPr>
                <a:r>
                  <a:rPr sz="2000"/>
                  <a:t>The mean is the most commonly reported statistic — and it’s the number every t-test, ANOVA, and regression is ultimately built around.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one side's values out as a vector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lee_lengths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lee_lengths</a:t>
            </a:r>
          </a:p>
          <a:p>
            <a:pPr lvl="0" indent="0">
              <a:buNone/>
            </a:pPr>
            <a:r>
              <a:rPr>
                <a:latin typeface="Courier"/>
              </a:rPr>
              <a:t> [1] 20 21 23 25 21 16 19 18 20 23 21 18 20 21 23 25 21 16 19 18 20 23 21 18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(lee_lengths)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20.41667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New pattern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filter()</a:t>
            </a:r>
            <a:r>
              <a:rPr sz="2000"/>
              <a:t> picks </a:t>
            </a:r>
            <a:r>
              <a:rPr sz="2000" b="1"/>
              <a:t>rows</a:t>
            </a:r>
            <a:r>
              <a:rPr sz="2000"/>
              <a:t>. </a:t>
            </a:r>
            <a:r>
              <a:rPr sz="2000">
                <a:latin typeface="Courier"/>
              </a:rPr>
              <a:t>pull()</a:t>
            </a:r>
            <a:r>
              <a:rPr sz="2000"/>
              <a:t> extracts one column as a plain </a:t>
            </a:r>
            <a:r>
              <a:rPr sz="2000" b="1"/>
              <a:t>vector</a:t>
            </a:r>
            <a:r>
              <a:rPr sz="2000"/>
              <a:t>, not a data frame.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 · The Median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once the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around by outliers — it’s </a:t>
            </a:r>
            <a:r>
              <a:rPr b="1"/>
              <a:t>robust</a:t>
            </a:r>
          </a:p>
          <a:p>
            <a:pPr lvl="0"/>
            <a:r>
              <a:rPr/>
              <a:t>If mean ≫ median → right-skewed data</a:t>
            </a:r>
          </a:p>
          <a:p>
            <a:pPr lvl="0"/>
            <a:r>
              <a:rPr/>
              <a:t>If mean ≈ median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wind_lengths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(lee_lengths)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20.5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(wind_lengths)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15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Report mean </a:t>
            </a:r>
            <a:r>
              <a:rPr sz="2000" i="1"/>
              <a:t>and</a:t>
            </a:r>
            <a:r>
              <a:rPr sz="2000"/>
              <a:t> median together the first time you look at a new variable — a big gap between them is a signal worth investigating.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 ·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r>
                        <m:t>  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Distance of each value from the mean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it — makes everything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Average those squared distances (over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Square root</a:t>
                </a:r>
                <a:r>
                  <a:rPr/>
                  <a:t> brings variance back into the original units</a:t>
                </a:r>
              </a:p>
              <a:p>
                <a:pPr lvl="0" indent="0" marL="0">
                  <a:buNone/>
                </a:pPr>
                <a:r>
                  <a:rPr b="1"/>
                  <a:t>Larger spread = larger variance and SD.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/>
                  <a:t>Variance is in </a:t>
                </a:r>
                <a:r>
                  <a:rPr sz="2000" i="1"/>
                  <a:t>squared</a:t>
                </a:r>
                <a:r>
                  <a:rPr sz="2000"/>
                  <a:t> units (mm²) — hard to interpret directly. SD is why we usually report it instead.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(lee_lengths)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5.992754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(lee_lengths)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2.44801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(wind_lengths)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3.644928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(wind_lengths)</a:t>
            </a:r>
          </a:p>
          <a:p>
            <a:pPr lvl="0" indent="0">
              <a:buNone/>
            </a:pPr>
            <a:r>
              <a:rPr>
                <a:latin typeface="Courier"/>
              </a:rPr>
              <a:t>[1] 1.909169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Rule of thumb</a:t>
            </a:r>
          </a:p>
          <a:p>
            <a:pPr lvl="0" indent="0" marL="1270000">
              <a:buNone/>
            </a:pPr>
            <a:r>
              <a:rPr sz="2000"/>
              <a:t>For roughly normal data: ~68% of values fall within mean ± 1 SD, ~95% within mean ± 2 SD.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 · The </a:t>
            </a:r>
            <a:r>
              <a:rPr>
                <a:latin typeface="Courier"/>
              </a:rPr>
              <a:t>length()</a:t>
            </a:r>
            <a:r>
              <a:rPr/>
              <a:t>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A vector has 5 slots, but 2 are </a:t>
            </a:r>
            <a:r>
              <a:rPr sz="2000">
                <a:latin typeface="Courier"/>
              </a:rPr>
              <a:t>NA</a:t>
            </a:r>
            <a:r>
              <a:rPr sz="2000"/>
              <a:t>. What does </a:t>
            </a:r>
            <a:r>
              <a:rPr sz="2000">
                <a:latin typeface="Courier"/>
              </a:rPr>
              <a:t>length()</a:t>
            </a:r>
            <a:r>
              <a:rPr sz="2000"/>
              <a:t> return? What </a:t>
            </a:r>
            <a:r>
              <a:rPr sz="2000" i="1"/>
              <a:t>should</a:t>
            </a:r>
            <a:r>
              <a:rPr sz="2000"/>
              <a:t> your sample size be for a mean or SE calculation?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         </a:t>
            </a:r>
            <a:r>
              <a:rPr>
                <a:solidFill>
                  <a:srgbClr val="5E5E5E"/>
                </a:solidFill>
                <a:latin typeface="Courier"/>
              </a:rPr>
              <a:t># counts every slot — including NAs!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      </a:t>
            </a:r>
            <a:r>
              <a:rPr>
                <a:solidFill>
                  <a:srgbClr val="5E5E5E"/>
                </a:solidFill>
                <a:latin typeface="Courier"/>
              </a:rPr>
              <a:t># how many are missing?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length() as n silently gives the WRONG answer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wrong_n 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wrong_n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(wrong_se,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0.931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R will </a:t>
            </a:r>
            <a:r>
              <a:rPr sz="2000" b="1"/>
              <a:t>not</a:t>
            </a:r>
            <a:r>
              <a:rPr sz="2000"/>
              <a:t> warn you. </a:t>
            </a:r>
            <a:r>
              <a:rPr sz="2000">
                <a:latin typeface="Courier"/>
              </a:rPr>
              <a:t>length()</a:t>
            </a:r>
            <a:r>
              <a:rPr sz="2000"/>
              <a:t> happily returns 5 when only 3 values are real — a silent, common error.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is.na(x)</a:t>
            </a:r>
            <a:r>
              <a:rPr sz="2000"/>
              <a:t> — </a:t>
            </a:r>
            <a:r>
              <a:rPr sz="2000">
                <a:latin typeface="Courier"/>
              </a:rPr>
              <a:t>TRUE</a:t>
            </a:r>
            <a:r>
              <a:rPr sz="2000"/>
              <a:t> where a value is missing</a:t>
            </a:r>
          </a:p>
          <a:p>
            <a:pPr lvl="0"/>
            <a:r>
              <a:rPr sz="2000" b="1">
                <a:latin typeface="Courier"/>
              </a:rPr>
              <a:t>!is.na(x)</a:t>
            </a:r>
            <a:r>
              <a:rPr sz="2000"/>
              <a:t> — the flip: </a:t>
            </a:r>
            <a:r>
              <a:rPr sz="2000">
                <a:latin typeface="Courier"/>
              </a:rPr>
              <a:t>TRUE</a:t>
            </a:r>
            <a:r>
              <a:rPr sz="2000"/>
              <a:t> where a value is real</a:t>
            </a:r>
          </a:p>
          <a:p>
            <a:pPr lvl="0"/>
            <a:r>
              <a:rPr sz="2000" b="1">
                <a:latin typeface="Courier"/>
              </a:rPr>
              <a:t>sum(!is.na(x))</a:t>
            </a:r>
            <a:r>
              <a:rPr sz="2000"/>
              <a:t> — counts the real values = the correct </a:t>
            </a:r>
            <a:r>
              <a:rPr sz="2000" i="1"/>
              <a:t>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         </a:t>
            </a:r>
            <a:r>
              <a:rPr>
                <a:solidFill>
                  <a:srgbClr val="5E5E5E"/>
                </a:solidFill>
                <a:latin typeface="Courier"/>
              </a:rPr>
              <a:t># TRUE where NA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 FALSE  TRUE FALSE  TRUE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        </a:t>
            </a:r>
            <a:r>
              <a:rPr>
                <a:solidFill>
                  <a:srgbClr val="5E5E5E"/>
                </a:solidFill>
                <a:latin typeface="Courier"/>
              </a:rPr>
              <a:t># flipped: TRUE where real</a:t>
            </a:r>
          </a:p>
          <a:p>
            <a:pPr lvl="0" indent="0">
              <a:buNone/>
            </a:pPr>
            <a:r>
              <a:rPr>
                <a:latin typeface="Courier"/>
              </a:rPr>
              <a:t>[1]  TRUE  TRUE FALSE  TRUE FALSE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   </a:t>
            </a:r>
            <a:r>
              <a:rPr>
                <a:solidFill>
                  <a:srgbClr val="5E5E5E"/>
                </a:solidFill>
                <a:latin typeface="Courier"/>
              </a:rPr>
              <a:t># count the TRUEs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Applied to our real data — even with no NAs, make it a habit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n_lee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(lee_lengths))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n_wind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(wind_lengths))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n_lee</a:t>
            </a:r>
          </a:p>
          <a:p>
            <a:pPr lvl="0" indent="0">
              <a:buNone/>
            </a:pPr>
            <a:r>
              <a:rPr>
                <a:latin typeface="Courier"/>
              </a:rPr>
              <a:t>[1] 24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n_wind</a:t>
            </a:r>
          </a:p>
          <a:p>
            <a:pPr lvl="0" indent="0">
              <a:buNone/>
            </a:pPr>
            <a:r>
              <a:rPr>
                <a:latin typeface="Courier"/>
              </a:rPr>
              <a:t>[1] 24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for </a:t>
            </a:r>
            <a:r>
              <a:rPr sz="2000" i="1"/>
              <a:t>n</a:t>
            </a:r>
            <a:r>
              <a:rPr sz="2000"/>
              <a:t> every time you compute an SE — even when you’re sure there are no missing values. Field data rarely stays that clean.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works,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missing value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 to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adds up the </a:t>
            </a:r>
            <a:r>
              <a:rPr>
                <a:latin typeface="Courier"/>
              </a:rPr>
              <a:t>TRUE</a:t>
            </a:r>
            <a:r>
              <a:rPr/>
              <a:t>s (</a:t>
            </a:r>
            <a:r>
              <a:rPr>
                <a:latin typeface="Courier"/>
              </a:rPr>
              <a:t>TRUE</a:t>
            </a:r>
            <a:r>
              <a:rPr/>
              <a:t> = 1)</a:t>
            </a:r>
          </a:p>
          <a:p>
            <a:pPr lvl="0" indent="0" marL="0">
              <a:buNone/>
            </a:pPr>
            <a:r>
              <a:rPr/>
              <a:t>📖 R4DS §18 — Missing Values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6 ·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you know the </a:t>
                </a:r>
                <a:r>
                  <a:rPr b="1"/>
                  <a:t>mean</a:t>
                </a:r>
                <a:r>
                  <a:rPr/>
                  <a:t> — not the spread of raw data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grows: more data → a more precise estimate of the mean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whenever we’re making a claim about a group mean.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se_lee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(lee_lengths) 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(n_lee)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se_wind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(wind_lengths)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(n_wind)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(se_lee,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(se_wind,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0.39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sqrt(length(x))</a:t>
            </a:r>
            <a:r>
              <a:rPr sz="2000"/>
              <a:t> and </a:t>
            </a:r>
            <a:r>
              <a:rPr sz="2000">
                <a:latin typeface="Courier"/>
              </a:rPr>
              <a:t>sqrt(sum(!is.na(x)))</a:t>
            </a:r>
            <a:r>
              <a:rPr sz="2000"/>
              <a:t> give the </a:t>
            </a:r>
            <a:r>
              <a:rPr sz="2000" i="1"/>
              <a:t>same</a:t>
            </a:r>
            <a:r>
              <a:rPr sz="2000"/>
              <a:t> answer only when there are zero missing values. Don’t assume — check.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Stats, One Group, Base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n_l  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(lee_lengths))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mean_l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(lee_lengths,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med_l 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(lee_lengths,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 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(lee_lengths,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se_l   &lt;- sd_l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(n_l)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Lee side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Lee side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     ="</a:t>
            </a:r>
            <a:r>
              <a:rPr>
                <a:solidFill>
                  <a:srgbClr val="003B4F"/>
                </a:solidFill>
                <a:latin typeface="Courier"/>
              </a:rPr>
              <a:t>, n_l,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24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= 20.42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= 20.5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    = 2.45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    = 0.5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>
                <a:latin typeface="Courier"/>
              </a:rPr>
              <a:t>cat()</a:t>
            </a:r>
            <a:r>
              <a:rPr/>
              <a:t> prints clean, labeled output</a:t>
            </a:r>
          </a:p>
          <a:p>
            <a:pPr lvl="0"/>
            <a:r>
              <a:rPr/>
              <a:t>Clear — but repetitive the moment you have more than one group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Copy-pasting this block for every group is exactly the repetition </a:t>
            </a: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exists to remove.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7 · Tidy Group Stats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How many </a:t>
            </a:r>
            <a:r>
              <a:rPr sz="2000" b="1"/>
              <a:t>rows</a:t>
            </a:r>
            <a:r>
              <a:rPr sz="2000"/>
              <a:t> will the result have? (Hint: how many values does </a:t>
            </a:r>
            <a:r>
              <a:rPr sz="2000">
                <a:latin typeface="Courier"/>
              </a:rPr>
              <a:t>n_s</a:t>
            </a:r>
            <a:r>
              <a:rPr sz="2000"/>
              <a:t> take?)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side_stats_df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(n_s)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side_stats_df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n_s       n mean_mm med_mm sd_mm se_mm
  &lt;chr&gt; &lt;int&gt;   &lt;dbl&gt;  &lt;dbl&gt; &lt;dbl&gt; &lt;dbl&gt;
1 n        24    20.4   20.5  2.45  0.5 
2 s        24    14.9   15    1.91  0.39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group_by(n_s)</a:t>
            </a:r>
            <a:r>
              <a:rPr/>
              <a:t> splits the data by side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collapses each group to </a:t>
            </a:r>
            <a:r>
              <a:rPr b="1"/>
              <a:t>one row</a:t>
            </a:r>
            <a:r>
              <a:rPr/>
              <a:t> of stats</a:t>
            </a:r>
          </a:p>
          <a:p>
            <a:pPr lvl="0"/>
            <a:r>
              <a:rPr/>
              <a:t>Both groups, one clean table — no copy-paste</a:t>
            </a:r>
          </a:p>
          <a:p>
            <a:pPr lvl="0"/>
            <a:r>
              <a:rPr/>
              <a:t>A column you just created (</a:t>
            </a:r>
            <a:r>
              <a:rPr>
                <a:latin typeface="Courier"/>
              </a:rPr>
              <a:t>sd_mm</a:t>
            </a:r>
            <a:r>
              <a:rPr/>
              <a:t>) can feed the next one (</a:t>
            </a:r>
            <a:r>
              <a:rPr>
                <a:latin typeface="Courier"/>
              </a:rPr>
              <a:t>se_mm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📖 R4DS §3.5 — </a:t>
            </a:r>
            <a:r>
              <a:rPr>
                <a:latin typeface="Courier"/>
              </a:rPr>
              <a:t>summarize()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Grouping by More Than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team_stats_df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(group, n_s)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team_stats_df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5
  group       n_s       n mean_mm se_mm
  &lt;chr&gt;       &lt;chr&gt; &lt;int&gt;   &lt;dbl&gt; &lt;dbl&gt;
1 cephalopods n         6    21    1.24
2 cephalopods s         6    15    0.58
3 crayfish    n         6    21    1.24
4 crayfish    s         6    15    0.58
5 salmon      n         6    19.8  0.79
6 salmon      s         6    12.8  0.4 
7 snail       n         6    19.8  0.79
8 snail       s         6    16.8  0.6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group_by(group, n_s)</a:t>
            </a:r>
            <a:r>
              <a:rPr/>
              <a:t> splits by </a:t>
            </a:r>
            <a:r>
              <a:rPr b="1"/>
              <a:t>field team, then side</a:t>
            </a:r>
            <a:r>
              <a:rPr/>
              <a:t> — one row per combination</a:t>
            </a:r>
          </a:p>
          <a:p>
            <a:pPr lvl="0"/>
            <a:r>
              <a:rPr>
                <a:latin typeface="Courier"/>
              </a:rPr>
              <a:t>.groups = "drop"</a:t>
            </a:r>
            <a:r>
              <a:rPr/>
              <a:t> turns off the grouping once you’re done — good habit, avoids surprises later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Four teams × two sides = 8 rows. Does every team show the same lee-vs-windward pattern, or do some disagree?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Computed </a:t>
            </a:r>
            <a:r>
              <a:rPr b="1"/>
              <a:t>mean</a:t>
            </a:r>
            <a:r>
              <a:rPr/>
              <a:t> and </a:t>
            </a:r>
            <a:r>
              <a:rPr b="1"/>
              <a:t>median</a:t>
            </a:r>
            <a:r>
              <a:rPr/>
              <a:t>, and know why they can disagree</a:t>
            </a:r>
          </a:p>
          <a:p>
            <a:pPr lvl="0"/>
            <a:r>
              <a:rPr/>
              <a:t>Computed </a:t>
            </a:r>
            <a:r>
              <a:rPr b="1"/>
              <a:t>variance</a:t>
            </a:r>
            <a:r>
              <a:rPr/>
              <a:t> and </a:t>
            </a:r>
            <a:r>
              <a:rPr b="1"/>
              <a:t>SD</a:t>
            </a:r>
            <a:r>
              <a:rPr/>
              <a:t> by hand, with real formulas</a:t>
            </a:r>
          </a:p>
          <a:p>
            <a:pPr lvl="0"/>
            <a:r>
              <a:rPr/>
              <a:t>Found the </a:t>
            </a:r>
            <a:r>
              <a:rPr b="1">
                <a:latin typeface="Courier"/>
              </a:rPr>
              <a:t>length()</a:t>
            </a:r>
            <a:r>
              <a:rPr b="1"/>
              <a:t> trap</a:t>
            </a:r>
            <a:r>
              <a:rPr/>
              <a:t> and fixed it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Computed </a:t>
            </a:r>
            <a:r>
              <a:rPr b="1"/>
              <a:t>SE</a:t>
            </a:r>
            <a:r>
              <a:rPr/>
              <a:t> and know how it differs from SD</a:t>
            </a:r>
          </a:p>
          <a:p>
            <a:pPr lvl="0"/>
            <a:r>
              <a:rPr/>
              <a:t>Used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to get every group’s stats in one table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compute n, mean, SD, and SE for </a:t>
            </a:r>
            <a:r>
              <a:rPr sz="2000">
                <a:latin typeface="Courier"/>
              </a:rPr>
              <a:t>length_mm</a:t>
            </a:r>
            <a:r>
              <a:rPr sz="2000"/>
              <a:t> grouped by </a:t>
            </a:r>
            <a:r>
              <a:rPr sz="2000">
                <a:latin typeface="Courier"/>
              </a:rPr>
              <a:t>n_s</a:t>
            </a:r>
            <a:r>
              <a:rPr sz="2000"/>
              <a:t>, and again grouped by </a:t>
            </a:r>
            <a:r>
              <a:rPr sz="2000">
                <a:latin typeface="Courier"/>
              </a:rPr>
              <a:t>group</a:t>
            </a:r>
            <a:r>
              <a:rPr sz="2000"/>
              <a:t>. Save the summary table with </a:t>
            </a:r>
            <a:r>
              <a:rPr sz="2000">
                <a:latin typeface="Courier"/>
              </a:rPr>
              <a:t>write_csv()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Module 4</a:t>
            </a:r>
          </a:p>
          <a:p>
            <a:pPr lvl="0"/>
            <a:r>
              <a:rPr sz="2000"/>
              <a:t>Boxplots and jittered points, done right</a:t>
            </a:r>
          </a:p>
          <a:p>
            <a:pPr lvl="0"/>
            <a:r>
              <a:rPr sz="2000"/>
              <a:t>Plotting mean ± SE directly with </a:t>
            </a:r>
            <a:r>
              <a:rPr sz="2000">
                <a:latin typeface="Courier"/>
              </a:rPr>
              <a:t>stat_summary()</a:t>
            </a:r>
          </a:p>
          <a:p>
            <a:pPr lvl="0"/>
            <a:r>
              <a:rPr sz="2000"/>
              <a:t>Faceting, themes, and </a:t>
            </a:r>
            <a:r>
              <a:rPr sz="2000">
                <a:latin typeface="Courier"/>
              </a:rPr>
              <a:t>ggsave()</a:t>
            </a:r>
            <a:r>
              <a:rPr sz="2000"/>
              <a:t> for a publication-ready figure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</a:t>
            </a:r>
            <a:r>
              <a:rPr>
                <a:latin typeface="Courier"/>
              </a:rPr>
              <a:t>library(tidyverse)</a:t>
            </a:r>
            <a:r>
              <a:rPr/>
              <a:t> loaded? Spelling? Did you forget </a:t>
            </a:r>
            <a:r>
              <a:rPr>
                <a:latin typeface="Courier"/>
              </a:rPr>
              <a:t>na.rm = TRUE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help page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Describing Your Data</dc:title>
  <dc:creator>Bill Perry</dc:creator>
  <cp:keywords/>
  <dc:description>Mean, median, variance, standard deviation, and standard error; the length() trap and the sum(!is.na()) fix; and getting tidy per-group summaries with group_by() + summarize() — all on the pine needle dataset.</dc:description>
  <dcterms:created xsi:type="dcterms:W3CDTF">2026-08-20T18:21:07Z</dcterms:created>
  <dcterms:modified xsi:type="dcterms:W3CDTF">2026-08-20T18:21:07Z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3</vt:lpwstr>
  </property>
  <property fmtid="{D5CDD505-2E9C-101B-9397-08002B2CF9AE}" pid="12" name="subtitle">
    <vt:lpwstr>Mean, spread, counting correctly, and group summaries</vt:lpwstr>
  </property>
  <property fmtid="{D5CDD505-2E9C-101B-9397-08002B2CF9AE}" pid="13" name="toc-title">
    <vt:lpwstr>Table of contents</vt:lpwstr>
  </property>
  <property fmtid="{D5CDD505-2E9C-101B-9397-08002B2CF9AE}" pid="14" name="week">
    <vt:lpwstr>3</vt:lpwstr>
  </property>
</Properties>
</file>