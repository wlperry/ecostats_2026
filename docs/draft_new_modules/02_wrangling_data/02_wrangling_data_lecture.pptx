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2 —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pine_needles.csv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Module 1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same data, two file formats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 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 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date</a:t>
            </a:r>
            <a:r>
              <a:rPr sz="2000"/>
              <a:t>, </a:t>
            </a:r>
            <a:r>
              <a:rPr sz="2000">
                <a:latin typeface="Courier"/>
              </a:rPr>
              <a:t>group</a:t>
            </a:r>
            <a:r>
              <a:rPr sz="2000"/>
              <a:t> (field team name), </a:t>
            </a:r>
            <a:r>
              <a:rPr sz="2000">
                <a:latin typeface="Courier"/>
              </a:rPr>
              <a:t>n_s</a:t>
            </a:r>
            <a:r>
              <a:rPr sz="2000"/>
              <a:t>, </a:t>
            </a:r>
            <a:r>
              <a:rPr sz="2000">
                <a:latin typeface="Courier"/>
              </a:rPr>
              <a:t>wind</a:t>
            </a:r>
            <a:r>
              <a:rPr sz="2000"/>
              <a:t>, </a:t>
            </a:r>
            <a:r>
              <a:rPr sz="2000">
                <a:latin typeface="Courier"/>
              </a:rPr>
              <a:t>tree_no</a:t>
            </a:r>
            <a:r>
              <a:rPr sz="2000"/>
              <a:t>, </a:t>
            </a:r>
            <a:r>
              <a:rPr sz="2000">
                <a:latin typeface="Courier"/>
              </a:rPr>
              <a:t>length_mm</a:t>
            </a:r>
            <a:r>
              <a:rPr sz="2000"/>
              <a:t>. 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tree_no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 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Module 3’s whole topic. 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sheltered (lee)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20
2 3/20/25 cephalopods n     lee         1        21
3 3/20/25 cephalopods n     lee         1        23
4 3/20/25 cephalopods n     lee         1        25
5 3/20/25 cephalopods n     lee         1        21
6 3/20/25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20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n     lee         1        21
2 3/20/25 cephalopods n     lee         1        23
3 3/20/25 cephalopods n     lee         1        25
4 3/20/25 cephalopods n     lee         1        21
5 3/20/25 salmon      n     lee         2        23
6 3/20/25 salmon      n     lee         2        21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,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group       n_s   wind  tree_no length_mm
  &lt;chr&gt;   &lt;chr&gt;       &lt;chr&gt; &lt;chr&gt;   &lt;dbl&gt;     &lt;dbl&gt;
1 3/20/25 cephalopods s     wind        1        16
2 3/20/25 cephalopods s     wind        1        17
3 3/20/25 crayfish    s     wind        3        16
4 3/20/25 crayfish    s     wind        3        17
5 3/20/25 snail       s     wind        4        17
6 3/20/25 snail       s     wind        4        16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=</a:t>
            </a:r>
            <a:r>
              <a:rPr sz="2000"/>
              <a:t> assigns a value. </a:t>
            </a:r>
            <a:r>
              <a:rPr sz="2000">
                <a:latin typeface="Courier"/>
              </a:rPr>
              <a:t>==</a:t>
            </a:r>
            <a:r>
              <a:rPr sz="2000"/>
              <a:t> tests equality. </a:t>
            </a:r>
            <a:r>
              <a:rPr sz="2000">
                <a:latin typeface="Courier"/>
              </a:rPr>
              <a:t>filter(n_s = "n")</a:t>
            </a:r>
            <a:r>
              <a:rPr sz="2000"/>
              <a:t> is an error — you want </a:t>
            </a:r>
            <a:r>
              <a:rPr sz="2000">
                <a:latin typeface="Courier"/>
              </a:rPr>
              <a:t>filter(n_s == "n")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n_s   length_mm
  &lt;chr&gt;     &lt;dbl&gt;
1 n            20
2 n            21
3 n            23
4 n            25
5 n            21
6 n    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date column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group       n_s   wind  tree_no length_mm
  &lt;chr&gt;       &lt;chr&gt; &lt;chr&gt;   &lt;dbl&gt;     &lt;dbl&gt;
1 cephalopods n     lee         1        20
2 cephalopods n     lee         1        21
3 cephalopods n     lee         1        23
4 cephalopods n     lee         1        25
5 cephalopods n     lee         1        21
6 cephalopods n     lee         1        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n_s   wind  tree_no length_mm
  &lt;chr&gt; &lt;chr&gt;   &lt;dbl&gt;     &lt;dbl&gt;
1 n     lee         1        20
2 n     lee         1        21
3 n     lee         1        23
4 n     lee         1        25
5 n     lee         1        21
6 n     lee         1        16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starts_with("x")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contains("wind")</a:t>
            </a:r>
          </a:p>
          <a:p>
            <a:pPr lvl="0" indent="0" marL="0">
              <a:buNone/>
            </a:pPr>
            <a:r>
              <a:rPr/>
              <a:t>📖 R4DS §3.3 — </a:t>
            </a:r>
            <a:r>
              <a:rPr>
                <a:latin typeface="Courier"/>
              </a:rPr>
              <a:t>select()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length_mm / 10</a:t>
            </a:r>
            <a:r>
              <a:rPr sz="2000"/>
              <a:t> converts millimeters to centimeters.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length_cm
  &lt;chr&gt;   &lt;chr&gt;       &lt;chr&gt; &lt;chr&gt;   &lt;dbl&gt;     &lt;dbl&gt;     &lt;dbl&gt;
1 3/20/25 cephalopods n     lee         1        20       2  
2 3/20/25 cephalopods n     lee         1        21       2.1
3 3/20/25 cephalopods n     lee         1        23       2.3
4 3/20/25 cephalopods n     lee         1        25       2.5
5 3/20/25 cephalopods n     lee         1        21       2.1
6 3/20/25 cephalopods n     lee         1        16       1.6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date    group       n_s   wind  tree_no length_mm log_length
  &lt;chr&gt;   &lt;chr&gt;       &lt;chr&gt; &lt;chr&gt;   &lt;dbl&gt;     &lt;dbl&gt;      &lt;dbl&gt;
1 3/20/25 cephalopods n     lee         1        20       3.00
2 3/20/25 cephalopods n     lee         1        21       3.04
3 3/20/25 cephalopods n     lee         1        23       3.14
4 3/20/25 cephalopods n     lee         1        25       3.22
5 3/20/25 cephalopods n     lee         1        21       3.04
6 3/20/25 cephalopods n     lee         1        16       2.77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date    group       n_s   wind  tree_no length_mm length_cm size_class
  &lt;chr&gt;   &lt;chr&gt;       &lt;chr&gt; &lt;chr&gt;   &lt;dbl&gt;     &lt;dbl&gt;     &lt;dbl&gt; &lt;chr&gt;     
1 3/20/25 cephalopods n     lee         1        20       2   long      
2 3/20/25 cephalopods n     lee         1        21       2.1 long      
3 3/20/25 cephalopods n     lee         1        23       2.3 long      
4 3/20/25 cephalopods n     lee         1        25       2.5 long      
5 3/20/25 cephalopods n     lee         1        21       2.1 long      
6 3/20/25 cephalopods n     lee         1        16       1.6 short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 To </a:t>
            </a:r>
            <a:r>
              <a:rPr sz="2000" i="1"/>
              <a:t>overwrite</a:t>
            </a:r>
            <a:r>
              <a:rPr sz="2000"/>
              <a:t> a column, reuse its name: </a:t>
            </a:r>
            <a:r>
              <a:rPr sz="2000">
                <a:latin typeface="Courier"/>
              </a:rPr>
              <a:t>mutate(length_mm = round(length_mm, 1))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 indent="0" marL="1270000">
              <a:buNone/>
            </a:pPr>
            <a:r>
              <a:rPr sz="2000"/>
              <a:t>Many biological measurements are </a:t>
            </a:r>
            <a:r>
              <a:rPr sz="2000" b="1"/>
              <a:t>right-skewed</a:t>
            </a:r>
            <a:r>
              <a:rPr sz="2000"/>
              <a:t> — a log transform pulls extreme values in and can make a distribution more symmetric before you summarize or test it. We’ll check whether it matters for our data in a later module.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salmon      s     wind        2        12
 2 3/20/25 salmon      s     wind        2        12
 3 3/20/25 salmon      s     wind        2        12
 4 3/20/25 cephalopods s     wind        1        13
 5 3/20/25 salmon      s     wind        2        13
 6 3/20/25 crayfish    s     wind        3        13
 7 3/20/25 cephalopods s     wind        1        14
 8 3/20/25 salmon      s     wind        2        14
 9 3/20/25 salmon      s     wind        2        14
10 3/20/25 crayfish    s     wind        3        14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25
 2 3/20/25 crayfish    n     lee         3        25
 3 3/20/25 cephalopods n     lee         1        23
 4 3/20/25 salmon      n     lee         2        23
 5 3/20/25 crayfish    n     lee         3        23
 6 3/20/25 snail       n     lee         4        23
 7 3/20/25 cephalopods n     lee         1        21
 8 3/20/25 cephalopods n     lee         1        21
 9 3/20/25 salmon      n     lee         2        21
10 3/20/25 crayfish    n     lee         3        21
# ℹ 38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wind,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group       n_s   wind  length_mm length_cm log_length
  &lt;chr&gt;       &lt;chr&gt; &lt;chr&gt;     &lt;dbl&gt;     &lt;dbl&gt;      &lt;dbl&gt;
1 cephalopods n     lee          25       2.5       3.22
2 crayfish    n     lee          25       2.5       3.22
3 cephalopods n     lee          23       2.3       3.14
4 salmon      n     lee          23       2.3       3.14
5 crayfish    n     lee          23       2.3       3.14
6 snail       n     lee          23       2.3       3.14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Module 1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and removing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18 × 5
   name  species needle_id needle_name length_mm
   &lt;chr&gt; &lt;chr&gt;       &lt;dbl&gt; &lt;chr&gt;           &lt;dbl&gt;
 1 John  a               1 one              21.1
 2 John  a               2 two              21.2
 3 John  a               3 three            21.5
 4 Mary  a               1 one              21  
 5 Mary  a               2 two              21.1
 6 Mary  a               3 three            21.3
 7 Steve a               1 one              21.4
 8 Steve a               2 two              21.3
 9 Steve a               3 three            21.9
10 Harry a               1 one              24.1
11 Harry a               2 two              24.2
12 Harry a               3 three            24.3
13 Stan  a               1 one              22.1
14 Stan  a               2 two              22.2
15 Stan  a               3 three            22.4
16 Jake  a               1 one              20.3
17 Jake  a               2 two              20.4
18 Jake  a               3 three            20.1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36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John</a:t>
            </a:r>
            <a:r>
              <a:rPr sz="2000"/>
              <a:t> vs </a:t>
            </a:r>
            <a:r>
              <a:rPr sz="2000">
                <a:latin typeface="Courier"/>
              </a:rPr>
              <a:t>john</a:t>
            </a:r>
            <a:r>
              <a:rPr sz="2000"/>
              <a:t>) slips right through — always eyeball your data too.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>
                <a:latin typeface="Courier"/>
              </a:rPr>
              <a:t>write_csv()</a:t>
            </a:r>
            <a:r>
              <a:rPr b="1"/>
              <a:t> — the mirror image of </a:t>
            </a:r>
            <a:r>
              <a:rPr b="1">
                <a:latin typeface="Courier"/>
              </a:rPr>
              <a:t>read_csv()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Raw data is read-only.</a:t>
            </a:r>
            <a:r>
              <a:rPr sz="2000"/>
              <a:t> </a:t>
            </a:r>
            <a:r>
              <a:rPr sz="2000">
                <a:latin typeface="Courier"/>
              </a:rPr>
              <a:t>pine_needles.csv</a:t>
            </a:r>
            <a:r>
              <a:rPr sz="2000"/>
              <a:t> never gets overwritten — </a:t>
            </a:r>
            <a:r>
              <a:rPr sz="2000">
                <a:latin typeface="Courier"/>
              </a:rPr>
              <a:t>write_csv()</a:t>
            </a:r>
            <a:r>
              <a:rPr sz="2000"/>
              <a:t> always creates a </a:t>
            </a:r>
            <a:r>
              <a:rPr sz="2000" b="1"/>
              <a:t>new, separate file</a:t>
            </a:r>
            <a:r>
              <a:rPr sz="2000"/>
              <a:t>. That’s why we named it </a:t>
            </a:r>
            <a:r>
              <a:rPr sz="2000">
                <a:latin typeface="Courier"/>
              </a:rPr>
              <a:t>pine_needles_wrangled.csv</a:t>
            </a:r>
            <a:r>
              <a:rPr sz="2000"/>
              <a:t>, not </a:t>
            </a:r>
            <a:r>
              <a:rPr sz="2000">
                <a:latin typeface="Courier"/>
              </a:rPr>
              <a:t>pine_needles.csv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raw data + a script, something’s wrong with the script — never with the raw file. Keeping raw data untouched is what makes that guarantee possible.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Never overwrite </a:t>
            </a:r>
            <a:r>
              <a:rPr>
                <a:latin typeface="Courier"/>
              </a:rPr>
              <a:t>data/pine_needles.csv</a:t>
            </a:r>
            <a:r>
              <a:rPr/>
              <a:t> — that file is raw</a:t>
            </a:r>
          </a:p>
          <a:p>
            <a:pPr lvl="0"/>
            <a:r>
              <a:rPr/>
              <a:t>Save wrangled output with a name that says what happened: </a:t>
            </a:r>
            <a:r>
              <a:rPr>
                <a:latin typeface="Courier"/>
              </a:rPr>
              <a:t>pine_needles_wrangled.csv</a:t>
            </a:r>
            <a:r>
              <a:rPr/>
              <a:t>, not </a:t>
            </a:r>
            <a:r>
              <a:rPr>
                <a:latin typeface="Courier"/>
              </a:rPr>
              <a:t>pine_needles2.csv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Anyone re-running your script from scratch should get the exact same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this is exactly the mess a project folder with relative paths and clear names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write_csv(pine_wrangled_df, "data/pine_needles_wrangled.csv")</a:t>
            </a:r>
            <a:r>
              <a:rPr sz="2000"/>
              <a:t> does if that file doesn’t exist yet. What if it already does?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wrangle </a:t>
            </a:r>
            <a:r>
              <a:rPr sz="2000">
                <a:latin typeface="Courier"/>
              </a:rPr>
              <a:t>pine_needles.csv</a:t>
            </a:r>
            <a:r>
              <a:rPr sz="2000"/>
              <a:t> into a new data frame with at least one unit conversion and one log transform, then save it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3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 — Wrangling Your Data</dc:title>
  <dc:creator>Bill Perry</dc:creator>
  <cp:keywords/>
  <dc:description>Reading CSV and Excel files, the filter/select/mutate/arrange verbs, log and unit-conversion transforms, catching duplicate rows, and writing your cleaned data back out — all on the pine needle dataset.</dc:description>
  <dcterms:created xsi:type="dcterms:W3CDTF">2026-08-20T14:34:23Z</dcterms:created>
  <dcterms:modified xsi:type="dcterms:W3CDTF">2026-08-20T14:34:23Z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2</vt:lpwstr>
  </property>
  <property fmtid="{D5CDD505-2E9C-101B-9397-08002B2CF9AE}" pid="12" name="subtitle">
    <vt:lpwstr>Importing more than one way, reshaping columns, and saving what you make</vt:lpwstr>
  </property>
  <property fmtid="{D5CDD505-2E9C-101B-9397-08002B2CF9AE}" pid="13" name="toc-title">
    <vt:lpwstr>Table of contents</vt:lpwstr>
  </property>
  <property fmtid="{D5CDD505-2E9C-101B-9397-08002B2CF9AE}" pid="14" name="week">
    <vt:lpwstr>2</vt:lpwstr>
  </property>
</Properties>
</file>