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2 — Wrangling Your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Importing more than one way, reshaping columns, and saving what you make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 you:</a:t>
            </a:r>
          </a:p>
          <a:p>
            <a:pPr lvl="0"/>
            <a:r>
              <a:rPr/>
              <a:t>Turned a field observation into a testable </a:t>
            </a:r>
            <a:r>
              <a:rPr b="1"/>
              <a:t>H₀ / Hₐ</a:t>
            </a:r>
          </a:p>
          <a:p>
            <a:pPr lvl="0"/>
            <a:r>
              <a:rPr/>
              <a:t>Built a project folder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)</a:t>
            </a:r>
          </a:p>
          <a:p>
            <a:pPr lvl="0"/>
            <a:r>
              <a:rPr/>
              <a:t>Loaded </a:t>
            </a:r>
            <a:r>
              <a:rPr>
                <a:latin typeface="Courier"/>
              </a:rPr>
              <a:t>pine_needles.csv</a:t>
            </a:r>
            <a:r>
              <a:rPr/>
              <a:t> and made your first </a:t>
            </a:r>
            <a:r>
              <a:rPr>
                <a:latin typeface="Courier"/>
              </a:rPr>
              <a:t>ggplot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Module 1</a:t>
            </a:r>
          </a:p>
          <a:p>
            <a:pPr lvl="0" indent="0" marL="1270000">
              <a:buNone/>
            </a:pPr>
            <a:r>
              <a:rPr sz="2000"/>
              <a:t>You can get data </a:t>
            </a:r>
            <a:r>
              <a:rPr sz="2000" i="1"/>
              <a:t>into</a:t>
            </a:r>
            <a:r>
              <a:rPr sz="2000"/>
              <a:t> R and make a plot. Today we learn to </a:t>
            </a:r>
            <a:r>
              <a:rPr sz="2000" b="1"/>
              <a:t>reshape</a:t>
            </a:r>
            <a:r>
              <a:rPr sz="2000"/>
              <a:t> what you have and </a:t>
            </a:r>
            <a:r>
              <a:rPr sz="2000" b="1"/>
              <a:t>save</a:t>
            </a:r>
            <a:r>
              <a:rPr sz="2000"/>
              <a:t> what you make — the two skills every later module depends 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Importing data more than one way</a:t>
            </a:r>
          </a:p>
          <a:p>
            <a:pPr lvl="0" indent="-342900" marL="342900">
              <a:buAutoNum type="arabicPeriod"/>
            </a:pPr>
            <a:r>
              <a:rPr sz="2000"/>
              <a:t>The five wrangling verbs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mutate()</a:t>
            </a:r>
            <a:r>
              <a:rPr sz="2000"/>
              <a:t> — unit conversions and log transforms</a:t>
            </a:r>
          </a:p>
          <a:p>
            <a:pPr lvl="0" indent="-342900" marL="342900">
              <a:buAutoNum type="arabicPeriod"/>
            </a:pPr>
            <a:r>
              <a:rPr sz="2000"/>
              <a:t>Catching duplicate rows</a:t>
            </a:r>
          </a:p>
          <a:p>
            <a:pPr lvl="0" indent="-342900" marL="342900">
              <a:buAutoNum type="arabicPeriod"/>
            </a:pPr>
            <a:r>
              <a:rPr sz="2000"/>
              <a:t>Saving your work with </a:t>
            </a:r>
            <a:r>
              <a:rPr sz="2000">
                <a:latin typeface="Courier"/>
              </a:rPr>
              <a:t>write_csv()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 · Importing Data More Than One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same data, two file formats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 data doesn’t always arrive as a </a:t>
            </a:r>
            <a:r>
              <a:rPr>
                <a:latin typeface="Courier"/>
              </a:rPr>
              <a:t>.csv</a:t>
            </a:r>
            <a:r>
              <a:rPr/>
              <a:t>. Excel workbooks are everywhere in ecology — you need both tools.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pine_csv_df  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pine_excel_df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read_csv()</a:t>
            </a:r>
            <a:r>
              <a:rPr sz="2000"/>
              <a:t> comes from </a:t>
            </a:r>
            <a:r>
              <a:rPr sz="2000">
                <a:latin typeface="Courier"/>
              </a:rPr>
              <a:t>readr</a:t>
            </a:r>
            <a:r>
              <a:rPr sz="2000"/>
              <a:t> (loaded with </a:t>
            </a:r>
            <a:r>
              <a:rPr sz="2000">
                <a:latin typeface="Courier"/>
              </a:rPr>
              <a:t>tidyverse</a:t>
            </a:r>
            <a:r>
              <a:rPr sz="2000"/>
              <a:t>). Excel files need the separate </a:t>
            </a:r>
            <a:r>
              <a:rPr sz="2000">
                <a:latin typeface="Courier"/>
              </a:rPr>
              <a:t>readxl</a:t>
            </a:r>
            <a:r>
              <a:rPr sz="2000"/>
              <a:t> package — install once, </a:t>
            </a:r>
            <a:r>
              <a:rPr sz="2000">
                <a:latin typeface="Courier"/>
              </a:rPr>
              <a:t>library()</a:t>
            </a:r>
            <a:r>
              <a:rPr sz="2000"/>
              <a:t> every session.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Package vs. bundle</a:t>
            </a:r>
            <a:r>
              <a:rPr sz="2000"/>
              <a:t> — </a:t>
            </a:r>
            <a:r>
              <a:rPr sz="2000">
                <a:latin typeface="Courier"/>
              </a:rPr>
              <a:t>tidyverse</a:t>
            </a:r>
            <a:r>
              <a:rPr sz="2000"/>
              <a:t> is a bundle of packages (</a:t>
            </a:r>
            <a:r>
              <a:rPr sz="2000">
                <a:latin typeface="Courier"/>
              </a:rPr>
              <a:t>readr</a:t>
            </a:r>
            <a:r>
              <a:rPr sz="2000"/>
              <a:t>, </a:t>
            </a:r>
            <a:r>
              <a:rPr sz="2000">
                <a:latin typeface="Courier"/>
              </a:rPr>
              <a:t>dplyr</a:t>
            </a:r>
            <a:r>
              <a:rPr sz="2000"/>
              <a:t>, </a:t>
            </a:r>
            <a:r>
              <a:rPr sz="2000">
                <a:latin typeface="Courier"/>
              </a:rPr>
              <a:t>ggplot2</a:t>
            </a:r>
            <a:r>
              <a:rPr sz="2000"/>
              <a:t>, …). </a:t>
            </a:r>
            <a:r>
              <a:rPr sz="2000">
                <a:latin typeface="Courier"/>
              </a:rPr>
              <a:t>readxl</a:t>
            </a:r>
            <a:r>
              <a:rPr sz="2000"/>
              <a:t> isn’t included; it always needs its own </a:t>
            </a:r>
            <a:r>
              <a:rPr sz="2000">
                <a:latin typeface="Courier"/>
              </a:rPr>
              <a:t>library()</a:t>
            </a:r>
            <a:r>
              <a:rPr sz="2000"/>
              <a:t> line.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before you trust it —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(pine_csv_df)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48
Columns: 6
$ date      &lt;chr&gt; "3/20/25", "3/20/25", "3/20/25", "3/20/25", "3/20/25", "3/20…
$ group     &lt;chr&gt; "cephalopods", "cephalopods", "cephalopods", "cephalopods", …
$ n_s       &lt;chr&gt; "n", "n", "n", "n", "n", "n", "s", "s", "s", "s", "s", "s", …
$ wind      &lt;chr&gt; "lee", "lee", "lee", "lee", "lee", "lee", "wind", "wind", "w…
$ tree_no   &lt;dbl&gt; 1, 1, 1, 1, 1, 1, 1, 1, 1, 1, 1, 1, 2, 2, 2, 2, 2, 2, 2, 2, …
$ length_mm &lt;dbl&gt; 20, 21, 23, 25, 21, 16, 15, 16, 14, 17, 13, 15, 19, 18, 20, …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(pine_csv_df)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48  6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Six columns: </a:t>
            </a:r>
            <a:r>
              <a:rPr sz="2000">
                <a:latin typeface="Courier"/>
              </a:rPr>
              <a:t>date</a:t>
            </a:r>
            <a:r>
              <a:rPr sz="2000"/>
              <a:t>, </a:t>
            </a:r>
            <a:r>
              <a:rPr sz="2000">
                <a:latin typeface="Courier"/>
              </a:rPr>
              <a:t>group</a:t>
            </a:r>
            <a:r>
              <a:rPr sz="2000"/>
              <a:t> (field team name), </a:t>
            </a:r>
            <a:r>
              <a:rPr sz="2000">
                <a:latin typeface="Courier"/>
              </a:rPr>
              <a:t>n_s</a:t>
            </a:r>
            <a:r>
              <a:rPr sz="2000"/>
              <a:t>, </a:t>
            </a:r>
            <a:r>
              <a:rPr sz="2000">
                <a:latin typeface="Courier"/>
              </a:rPr>
              <a:t>wind</a:t>
            </a:r>
            <a:r>
              <a:rPr sz="2000"/>
              <a:t>, </a:t>
            </a:r>
            <a:r>
              <a:rPr sz="2000">
                <a:latin typeface="Courier"/>
              </a:rPr>
              <a:t>tree_no</a:t>
            </a:r>
            <a:r>
              <a:rPr sz="2000"/>
              <a:t>, </a:t>
            </a:r>
            <a:r>
              <a:rPr sz="2000">
                <a:latin typeface="Courier"/>
              </a:rPr>
              <a:t>length_mm</a:t>
            </a:r>
            <a:r>
              <a:rPr sz="2000"/>
              <a:t>. Same structure whether it came from the </a:t>
            </a:r>
            <a:r>
              <a:rPr sz="2000">
                <a:latin typeface="Courier"/>
              </a:rPr>
              <a:t>.csv</a:t>
            </a:r>
            <a:r>
              <a:rPr sz="2000"/>
              <a:t> or the </a:t>
            </a:r>
            <a:r>
              <a:rPr sz="2000">
                <a:latin typeface="Courier"/>
              </a:rPr>
              <a:t>.xlsx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Excel loves to turn a plain number column into a date, or a </a:t>
            </a:r>
            <a:r>
              <a:rPr sz="2000">
                <a:latin typeface="Courier"/>
              </a:rPr>
              <a:t>tree_no</a:t>
            </a:r>
            <a:r>
              <a:rPr sz="2000"/>
              <a:t> like </a:t>
            </a:r>
            <a:r>
              <a:rPr sz="2000">
                <a:latin typeface="Courier"/>
              </a:rPr>
              <a:t>1</a:t>
            </a:r>
            <a:r>
              <a:rPr sz="2000"/>
              <a:t> into </a:t>
            </a:r>
            <a:r>
              <a:rPr sz="2000">
                <a:latin typeface="Courier"/>
              </a:rPr>
              <a:t>1.0</a:t>
            </a:r>
            <a:r>
              <a:rPr sz="2000"/>
              <a:t>. Always </a:t>
            </a:r>
            <a:r>
              <a:rPr sz="2000">
                <a:latin typeface="Courier"/>
              </a:rPr>
              <a:t>glimpse()</a:t>
            </a:r>
            <a:r>
              <a:rPr sz="2000"/>
              <a:t> an Excel import before doing anything else.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 · The Five Wrangling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Almost everything you do to a data frame is one of these five functions, chained with the pipe </a:t>
            </a:r>
            <a:r>
              <a:rPr>
                <a:latin typeface="Courier"/>
              </a:rPr>
              <a:t>|&gt;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input and return a data frame — that’s what makes them chainable.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summarize()</a:t>
            </a:r>
            <a:r>
              <a:rPr sz="2000"/>
              <a:t> is Module 3’s whole topic. Today: the other four, plus saving what you build.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Read a pipeline out loud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pine_csv_df |&gt;
  filter(...) |&gt;   # then
  select(...) |&gt;   # then
  mutate(...) |&gt;   # then
  arrange(...)     # then</a:t>
            </a:r>
          </a:p>
          <a:p>
            <a:pPr lvl="0" indent="0" marL="1270000">
              <a:buNone/>
            </a:pPr>
            <a:r>
              <a:rPr sz="2000"/>
              <a:t>Each </a:t>
            </a:r>
            <a:r>
              <a:rPr sz="2000">
                <a:latin typeface="Courier"/>
              </a:rPr>
              <a:t>|&gt;</a:t>
            </a:r>
            <a:r>
              <a:rPr sz="2000"/>
              <a:t> reads as </a:t>
            </a:r>
            <a:r>
              <a:rPr sz="2000" b="1"/>
              <a:t>“then.”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sheltered (lee)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group       n_s   wind  tree_no length_mm
  &lt;chr&gt;   &lt;chr&gt;       &lt;chr&gt; &lt;chr&gt;   &lt;dbl&gt;     &lt;dbl&gt;
1 3/20/25 cephalopods n     lee         1        20
2 3/20/25 cephalopods n     lee         1        21
3 3/20/25 cephalopods n     lee         1        23
4 3/20/25 cephalopods n     lee         1        25
5 3/20/25 cephalopods n     lee         1        21
6 3/20/25 cephalopods n     lee         1        16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needles longer than 20 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group       n_s   wind  tree_no length_mm
  &lt;chr&gt;   &lt;chr&gt;       &lt;chr&gt; &lt;chr&gt;   &lt;dbl&gt;     &lt;dbl&gt;
1 3/20/25 cephalopods n     lee         1        21
2 3/20/25 cephalopods n     lee         1        23
3 3/20/25 cephalopods n     lee         1        25
4 3/20/25 cephalopods n     lee         1        21
5 3/20/25 salmon      n     lee         2        23
6 3/20/25 salmon      n     lee         2        21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a comma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, 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group       n_s   wind  tree_no length_mm
  &lt;chr&gt;   &lt;chr&gt;       &lt;chr&gt; &lt;chr&gt;   &lt;dbl&gt;     &lt;dbl&gt;
1 3/20/25 cephalopods s     wind        1        16
2 3/20/25 cephalopods s     wind        1        17
3 3/20/25 crayfish    s     wind        3        16
4 3/20/25 crayfish    s     wind        3        17
5 3/20/25 snail       s     wind        4        17
6 3/20/25 snail       s     wind        4        16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=</a:t>
            </a:r>
            <a:r>
              <a:rPr sz="2000"/>
              <a:t> assigns a value. </a:t>
            </a:r>
            <a:r>
              <a:rPr sz="2000">
                <a:latin typeface="Courier"/>
              </a:rPr>
              <a:t>==</a:t>
            </a:r>
            <a:r>
              <a:rPr sz="2000"/>
              <a:t> tests equality. </a:t>
            </a:r>
            <a:r>
              <a:rPr sz="2000">
                <a:latin typeface="Courier"/>
              </a:rPr>
              <a:t>filter(n_s = "n")</a:t>
            </a:r>
            <a:r>
              <a:rPr sz="2000"/>
              <a:t> is an error — you want </a:t>
            </a:r>
            <a:r>
              <a:rPr sz="2000">
                <a:latin typeface="Courier"/>
              </a:rPr>
              <a:t>filter(n_s == "n")</a:t>
            </a:r>
            <a:r>
              <a:rPr sz="200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/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is.na()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value missing?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!is.na()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value </a:t>
                      </a:r>
                      <a:r>
                        <a:rPr b="1"/>
                        <a:t>not</a:t>
                      </a:r>
                      <a:r>
                        <a:rPr/>
                        <a:t> missing?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side and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(n_s, length_mm)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n_s   length_mm
  &lt;chr&gt;     &lt;dbl&gt;
1 n            20
2 n            21
3 n            23
4 n            25
5 n            21
6 n            16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date column (minus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group       n_s   wind  tree_no length_mm
  &lt;chr&gt;       &lt;chr&gt; &lt;chr&gt;   &lt;dbl&gt;     &lt;dbl&gt;
1 cephalopods n     lee         1        20
2 cephalopods n     lee         1        21
3 cephalopods n     lee         1        23
4 cephalopods n     lee         1        25
5 cephalopods n     lee         1        21
6 cephalopods n     lee         1        16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contain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contains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n_s   wind  tree_no length_mm
  &lt;chr&gt; &lt;chr&gt;   &lt;dbl&gt;     &lt;dbl&gt;
1 n     lee         1        20
2 n     lee         1        21
3 n     lee         1        23
4 n     lee         1        25
5 n     lee         1        21
6 n     lee         1        16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select()</a:t>
            </a:r>
            <a:r>
              <a:rPr sz="2000"/>
              <a:t> doesn’t touch rows — it only trims the columns you’re carrying forward. Useful the moment a dataset has 30+ columns and you need 4 of them.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Useful helpers:</a:t>
            </a:r>
          </a:p>
          <a:p>
            <a:pPr lvl="0"/>
            <a:r>
              <a:rPr>
                <a:latin typeface="Courier"/>
              </a:rPr>
              <a:t>starts_with("x")</a:t>
            </a:r>
          </a:p>
          <a:p>
            <a:pPr lvl="0"/>
            <a:r>
              <a:rPr>
                <a:latin typeface="Courier"/>
              </a:rPr>
              <a:t>ends_with("_mm")</a:t>
            </a:r>
          </a:p>
          <a:p>
            <a:pPr lvl="0"/>
            <a:r>
              <a:rPr>
                <a:latin typeface="Courier"/>
              </a:rPr>
              <a:t>contains("wind")</a:t>
            </a:r>
          </a:p>
          <a:p>
            <a:pPr lvl="0" indent="0" marL="0">
              <a:buNone/>
            </a:pPr>
            <a:r>
              <a:rPr/>
              <a:t>📖 R4DS §3.3 — </a:t>
            </a:r>
            <a:r>
              <a:rPr>
                <a:latin typeface="Courier"/>
              </a:rPr>
              <a:t>select()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and Changing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length_mm / 10</a:t>
            </a:r>
            <a:r>
              <a:rPr sz="2000"/>
              <a:t> converts millimeters to centimeters. Will </a:t>
            </a:r>
            <a:r>
              <a:rPr sz="2000">
                <a:latin typeface="Courier"/>
              </a:rPr>
              <a:t>mutate()</a:t>
            </a:r>
            <a:r>
              <a:rPr sz="2000"/>
              <a:t> </a:t>
            </a:r>
            <a:r>
              <a:rPr sz="2000" b="1"/>
              <a:t>replace</a:t>
            </a:r>
            <a:r>
              <a:rPr sz="2000"/>
              <a:t> </a:t>
            </a:r>
            <a:r>
              <a:rPr sz="2000">
                <a:latin typeface="Courier"/>
              </a:rPr>
              <a:t>length_mm</a:t>
            </a:r>
            <a:r>
              <a:rPr sz="2000"/>
              <a:t>, or </a:t>
            </a:r>
            <a:r>
              <a:rPr sz="2000" b="1"/>
              <a:t>add</a:t>
            </a:r>
            <a:r>
              <a:rPr sz="2000"/>
              <a:t> a new column? How many columns will the result have?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converted-units column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length_cm =</a:t>
            </a:r>
            <a:r>
              <a:rPr>
                <a:solidFill>
                  <a:srgbClr val="003B4F"/>
                </a:solidFill>
                <a:latin typeface="Courier"/>
              </a:rPr>
              <a:t> 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date    group       n_s   wind  tree_no length_mm length_cm
  &lt;chr&gt;   &lt;chr&gt;       &lt;chr&gt; &lt;chr&gt;   &lt;dbl&gt;     &lt;dbl&gt;     &lt;dbl&gt;
1 3/20/25 cephalopods n     lee         1        20       2  
2 3/20/25 cephalopods n     lee         1        21       2.1
3 3/20/25 cephalopods n     lee         1        23       2.3
4 3/20/25 cephalopods n     lee         1        25       2.5
5 3/20/25 cephalopods n     lee         1        21       2.1
6 3/20/25 cephalopods n     lee         1        16       1.6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log-transformed column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log_length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date    group       n_s   wind  tree_no length_mm log_length
  &lt;chr&gt;   &lt;chr&gt;       &lt;chr&gt; &lt;chr&gt;   &lt;dbl&gt;     &lt;dbl&gt;      &lt;dbl&gt;
1 3/20/25 cephalopods n     lee         1        20       3.00
2 3/20/25 cephalopods n     lee         1        21       3.04
3 3/20/25 cephalopods n     lee         1        23       3.14
4 3/20/25 cephalopods n     lee         1        25       3.22
5 3/20/25 cephalopods n     lee         1        21       3.04
6 3/20/25 cephalopods n     lee         1        16       2.77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build on a column it just created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length_cm  =</a:t>
            </a:r>
            <a:r>
              <a:rPr>
                <a:solidFill>
                  <a:srgbClr val="003B4F"/>
                </a:solidFill>
                <a:latin typeface="Courier"/>
              </a:rPr>
              <a:t> 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8
  date    group       n_s   wind  tree_no length_mm length_cm size_class
  &lt;chr&gt;   &lt;chr&gt;       &lt;chr&gt; &lt;chr&gt;   &lt;dbl&gt;     &lt;dbl&gt;     &lt;dbl&gt; &lt;chr&gt;     
1 3/20/25 cephalopods n     lee         1        20       2   long      
2 3/20/25 cephalopods n     lee         1        21       2.1 long      
3 3/20/25 cephalopods n     lee         1        23       2.3 long      
4 3/20/25 cephalopods n     lee         1        25       2.5 long      
5 3/20/25 cephalopods n     lee         1        21       2.1 long      
6 3/20/25 cephalopods n     lee         1        16       1.6 short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mutate()</a:t>
            </a:r>
            <a:r>
              <a:rPr sz="2000"/>
              <a:t> keeps every existing column and adds new ones to the right. To </a:t>
            </a:r>
            <a:r>
              <a:rPr sz="2000" i="1"/>
              <a:t>overwrite</a:t>
            </a:r>
            <a:r>
              <a:rPr sz="2000"/>
              <a:t> a column, reuse its name: </a:t>
            </a:r>
            <a:r>
              <a:rPr sz="2000">
                <a:latin typeface="Courier"/>
              </a:rPr>
              <a:t>mutate(length_mm = round(length_mm, 1))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Why log-transform?</a:t>
            </a:r>
          </a:p>
          <a:p>
            <a:pPr lvl="0" indent="0" marL="1270000">
              <a:buNone/>
            </a:pPr>
            <a:r>
              <a:rPr sz="2000"/>
              <a:t>Many biological measurements are </a:t>
            </a:r>
            <a:r>
              <a:rPr sz="2000" b="1"/>
              <a:t>right-skewed</a:t>
            </a:r>
            <a:r>
              <a:rPr sz="2000"/>
              <a:t> — a log transform pulls extreme values in and can make a distribution more symmetric before you summarize or test it. We’ll check whether it matters for our data in a later module.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Shortest needles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48 × 6
   date    group       n_s   wind  tree_no length_mm
   &lt;chr&gt;   &lt;chr&gt;       &lt;chr&gt; &lt;chr&gt;   &lt;dbl&gt;     &lt;dbl&gt;
 1 3/20/25 salmon      s     wind        2        12
 2 3/20/25 salmon      s     wind        2        12
 3 3/20/25 salmon      s     wind        2        12
 4 3/20/25 cephalopods s     wind        1        13
 5 3/20/25 salmon      s     wind        2        13
 6 3/20/25 crayfish    s     wind        3        13
 7 3/20/25 cephalopods s     wind        1        14
 8 3/20/25 salmon      s     wind        2        14
 9 3/20/25 salmon      s     wind        2        14
10 3/20/25 crayfish    s     wind        3        14
# ℹ 38 more rows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Longest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25
 2 3/20/25 crayfish    n     lee         3        25
 3 3/20/25 cephalopods n     lee         1        23
 4 3/20/25 salmon      n     lee         2        23
 5 3/20/25 crayfish    n     lee         3        23
 6 3/20/25 snail       n     lee         4        23
 7 3/20/25 cephalopods n     lee         1        21
 8 3/20/25 cephalopods n     lee         1        21
 9 3/20/25 salmon      n     lee         2        21
10 3/20/25 crayfish    n     lee         3        21
# ℹ 38 more rows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side, then by length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(n_s,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25
 2 3/20/25 crayfish    n     lee         3        25
 3 3/20/25 cephalopods n     lee         1        23
 4 3/20/25 salmon      n     lee         2        23
 5 3/20/25 crayfish    n     lee         3        23
 6 3/20/25 snail       n     lee         4        23
 7 3/20/25 cephalopods n     lee         1        21
 8 3/20/25 cephalopods n     lee         1        21
 9 3/20/25 salmon      n     lee         2        21
10 3/20/25 crayfish    n     lee         3        21
# ℹ 38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 is </a:t>
            </a:r>
            <a:r>
              <a:rPr b="1"/>
              <a:t>ascending</a:t>
            </a:r>
            <a:r>
              <a:rPr/>
              <a:t> (smallest first)</a:t>
            </a:r>
          </a:p>
          <a:p>
            <a:pPr lvl="0"/>
            <a:r>
              <a:rPr>
                <a:latin typeface="Courier"/>
              </a:rPr>
              <a:t>desc()</a:t>
            </a:r>
            <a:r>
              <a:rPr/>
              <a:t> reverses it</a:t>
            </a:r>
          </a:p>
          <a:p>
            <a:pPr lvl="0"/>
            <a:r>
              <a:rPr/>
              <a:t>Most useful at the </a:t>
            </a:r>
            <a:r>
              <a:rPr b="1"/>
              <a:t>end</a:t>
            </a:r>
            <a:r>
              <a:rPr/>
              <a:t> of a pipeline, to inspect results in a sensible order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never changes </a:t>
            </a:r>
            <a:r>
              <a:rPr sz="2000" i="1"/>
              <a:t>which</a:t>
            </a:r>
            <a:r>
              <a:rPr sz="2000"/>
              <a:t> rows you have — only the order they print in.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pine_wrangled_df &lt;- 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# drop impossible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(group, n_s, wind, length_mm)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keep what we need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length_cm  =</a:t>
            </a:r>
            <a:r>
              <a:rPr>
                <a:solidFill>
                  <a:srgbClr val="003B4F"/>
                </a:solidFill>
                <a:latin typeface="Courier"/>
              </a:rPr>
              <a:t> 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log_length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(n_s,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(length_mm))            </a:t>
            </a:r>
            <a:r>
              <a:rPr>
                <a:solidFill>
                  <a:srgbClr val="5E5E5E"/>
                </a:solidFill>
                <a:latin typeface="Courier"/>
              </a:rPr>
              <a:t># sort for inspection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(pine_wrangled_df)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group       n_s   wind  length_mm length_cm log_length
  &lt;chr&gt;       &lt;chr&gt; &lt;chr&gt;     &lt;dbl&gt;     &lt;dbl&gt;      &lt;dbl&gt;
1 cephalopods n     lee          25       2.5       3.22
2 crayfish    n     lee          25       2.5       3.22
3 cephalopods n     lee          23       2.3       3.14
4 salmon      n     lee          23       2.3       3.14
5 crayfish    n     lee          23       2.3       3.14
6 snail       n     lee          23       2.3       3.14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pipe </a:t>
            </a:r>
            <a:r>
              <a:rPr sz="2000">
                <a:latin typeface="Courier"/>
              </a:rPr>
              <a:t>|&gt;</a:t>
            </a:r>
            <a:r>
              <a:rPr sz="2000"/>
              <a:t> is what makes this readable top to bottom — a recipe, not a nest of parentheses.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it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pine_csv_df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real values,</a:t>
            </a:r>
          </a:p>
          <a:p>
            <a:pPr lvl="2"/>
            <a:r>
              <a:rPr b="1"/>
              <a:t>then</a:t>
            </a:r>
            <a:r>
              <a:rPr/>
              <a:t> select four columns,</a:t>
            </a:r>
          </a:p>
          <a:p>
            <a:pPr lvl="3"/>
            <a:r>
              <a:rPr b="1"/>
              <a:t>then</a:t>
            </a:r>
            <a:r>
              <a:rPr/>
              <a:t> add two new columns,</a:t>
            </a:r>
          </a:p>
          <a:p>
            <a:pPr lvl="4"/>
            <a:r>
              <a:rPr b="1"/>
              <a:t>then</a:t>
            </a:r>
            <a:r>
              <a:rPr/>
              <a:t> sort by side and length.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 · A Duplicate-Row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Remember </a:t>
            </a:r>
            <a:r>
              <a:rPr b="1"/>
              <a:t>pseudoreplication</a:t>
            </a:r>
            <a:r>
              <a:rPr/>
              <a:t> from Module 1 — one tree standing in for many? Duplicate rows are the data-entry version of the same mistake: the same measurement counted twice inflates your sample size without adding real information.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needle_check_df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"data/pine_needles_error.csv"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36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18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Something’s wrong:</a:t>
            </a:r>
            <a:r>
              <a:rPr sz="2000"/>
              <a:t> </a:t>
            </a:r>
            <a:r>
              <a:rPr sz="2000">
                <a:latin typeface="Courier"/>
              </a:rPr>
              <a:t>nrow()</a:t>
            </a:r>
            <a:r>
              <a:rPr sz="2000"/>
              <a:t> and </a:t>
            </a:r>
            <a:r>
              <a:rPr sz="2000">
                <a:latin typeface="Courier"/>
              </a:rPr>
              <a:t>n_distinct()</a:t>
            </a:r>
            <a:r>
              <a:rPr sz="2000"/>
              <a:t> don’t match. Some rows are exact repeats.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>
                <a:latin typeface="Courier"/>
              </a:rPr>
              <a:t>n_distinct()</a:t>
            </a:r>
            <a:r>
              <a:rPr sz="2000"/>
              <a:t> — counts how many </a:t>
            </a:r>
            <a:r>
              <a:rPr sz="2000" i="1"/>
              <a:t>unique</a:t>
            </a:r>
            <a:r>
              <a:rPr sz="2000"/>
              <a:t> rows exist</a:t>
            </a:r>
          </a:p>
          <a:p>
            <a:pPr lvl="0"/>
            <a:r>
              <a:rPr sz="2000" b="1">
                <a:latin typeface="Courier"/>
              </a:rPr>
              <a:t>distinct()</a:t>
            </a:r>
            <a:r>
              <a:rPr sz="2000"/>
              <a:t> — returns the data with duplicate rows removed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 and removing the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Which rows are exact duplicates of an earlier row?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(needle_check_df))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18 × 5
   name  species needle_id needle_name length_mm
   &lt;chr&gt; &lt;chr&gt;       &lt;dbl&gt; &lt;chr&gt;           &lt;dbl&gt;
 1 John  a               1 one              21.1
 2 John  a               2 two              21.2
 3 John  a               3 three            21.5
 4 Mary  a               1 one              21  
 5 Mary  a               2 two              21.1
 6 Mary  a               3 three            21.3
 7 Steve a               1 one              21.4
 8 Steve a               2 two              21.3
 9 Steve a               3 three            21.9
10 Harry a               1 one              24.1
11 Harry a               2 two              24.2
12 Harry a               3 three            24.3
13 Stan  a               1 one              22.1
14 Stan  a               2 two              22.2
15 Stan  a               3 three            22.4
16 Jake  a               1 one              20.3
17 Jake  a               2 two              20.4
18 Jake  a               3 three            20.1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one copy of each unique row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needle_clean_df &lt;- 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36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(needle_clean_df)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18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distinct()</a:t>
            </a:r>
            <a:r>
              <a:rPr sz="2000"/>
              <a:t> only catches </a:t>
            </a:r>
            <a:r>
              <a:rPr sz="2000" i="1"/>
              <a:t>exact</a:t>
            </a:r>
            <a:r>
              <a:rPr sz="2000"/>
              <a:t> duplicate rows. A typo’d duplicate (</a:t>
            </a:r>
            <a:r>
              <a:rPr sz="2000">
                <a:latin typeface="Courier"/>
              </a:rPr>
              <a:t>John</a:t>
            </a:r>
            <a:r>
              <a:rPr sz="2000"/>
              <a:t> vs </a:t>
            </a:r>
            <a:r>
              <a:rPr sz="2000">
                <a:latin typeface="Courier"/>
              </a:rPr>
              <a:t>john</a:t>
            </a:r>
            <a:r>
              <a:rPr sz="2000"/>
              <a:t>) slips right through — always eyeball your data too.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Field habit</a:t>
            </a:r>
          </a:p>
          <a:p>
            <a:pPr lvl="0" indent="0" marL="1270000">
              <a:buNone/>
            </a:pPr>
            <a:r>
              <a:rPr sz="2000"/>
              <a:t>Before you trust any dataset — yours or a collaborator’s — check </a:t>
            </a:r>
            <a:r>
              <a:rPr sz="2000">
                <a:latin typeface="Courier"/>
              </a:rPr>
              <a:t>nrow()</a:t>
            </a:r>
            <a:r>
              <a:rPr sz="2000"/>
              <a:t> against </a:t>
            </a:r>
            <a:r>
              <a:rPr sz="2000">
                <a:latin typeface="Courier"/>
              </a:rPr>
              <a:t>n_distinct()</a:t>
            </a:r>
            <a:r>
              <a:rPr sz="2000"/>
              <a:t>. It takes five seconds and catches a real, common mistake.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 · Saving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write_csv()</a:t>
            </a:r>
            <a:r>
              <a:rPr b="1"/>
              <a:t> — the mirror image of </a:t>
            </a:r>
            <a:r>
              <a:rPr b="1">
                <a:latin typeface="Courier"/>
              </a:rPr>
              <a:t>read_csv()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(pine_wrangled_df, </a:t>
            </a:r>
            <a:r>
              <a:rPr>
                <a:solidFill>
                  <a:srgbClr val="20794D"/>
                </a:solidFill>
                <a:latin typeface="Courier"/>
              </a:rPr>
              <a:t>"data/pine_needles_wrangled.csv"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Raw data is read-only.</a:t>
            </a:r>
            <a:r>
              <a:rPr sz="2000"/>
              <a:t> </a:t>
            </a:r>
            <a:r>
              <a:rPr sz="2000">
                <a:latin typeface="Courier"/>
              </a:rPr>
              <a:t>pine_needles.csv</a:t>
            </a:r>
            <a:r>
              <a:rPr sz="2000"/>
              <a:t> never gets overwritten — </a:t>
            </a:r>
            <a:r>
              <a:rPr sz="2000">
                <a:latin typeface="Courier"/>
              </a:rPr>
              <a:t>write_csv()</a:t>
            </a:r>
            <a:r>
              <a:rPr sz="2000"/>
              <a:t> always creates a </a:t>
            </a:r>
            <a:r>
              <a:rPr sz="2000" b="1"/>
              <a:t>new, separate file</a:t>
            </a:r>
            <a:r>
              <a:rPr sz="2000"/>
              <a:t>. That’s why we named it </a:t>
            </a:r>
            <a:r>
              <a:rPr sz="2000">
                <a:latin typeface="Courier"/>
              </a:rPr>
              <a:t>pine_needles_wrangled.csv</a:t>
            </a:r>
            <a:r>
              <a:rPr sz="2000"/>
              <a:t>, not </a:t>
            </a:r>
            <a:r>
              <a:rPr sz="2000">
                <a:latin typeface="Courier"/>
              </a:rPr>
              <a:t>pine_needles.csv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you can’t reproduce a result from raw data + a script, something’s wrong with the script — never with the raw file. Keeping raw data untouched is what makes that guarantee possible.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Naming your saved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Never overwrite </a:t>
            </a:r>
            <a:r>
              <a:rPr>
                <a:latin typeface="Courier"/>
              </a:rPr>
              <a:t>data/pine_needles.csv</a:t>
            </a:r>
            <a:r>
              <a:rPr/>
              <a:t> — that file is raw</a:t>
            </a:r>
          </a:p>
          <a:p>
            <a:pPr lvl="0"/>
            <a:r>
              <a:rPr/>
              <a:t>Save wrangled output with a name that says what happened: </a:t>
            </a:r>
            <a:r>
              <a:rPr>
                <a:latin typeface="Courier"/>
              </a:rPr>
              <a:t>pine_needles_wrangled.csv</a:t>
            </a:r>
            <a:r>
              <a:rPr/>
              <a:t>, not </a:t>
            </a:r>
            <a:r>
              <a:rPr>
                <a:latin typeface="Courier"/>
              </a:rPr>
              <a:t>pine_needles2.csv</a:t>
            </a:r>
            <a:r>
              <a:rPr/>
              <a:t> or </a:t>
            </a:r>
            <a:r>
              <a:rPr>
                <a:latin typeface="Courier"/>
              </a:rPr>
              <a:t>final.csv</a:t>
            </a:r>
          </a:p>
          <a:p>
            <a:pPr lvl="0"/>
            <a:r>
              <a:rPr/>
              <a:t>Anyone re-running your script from scratch should get the exact same output file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final.csv</a:t>
            </a:r>
            <a:r>
              <a:rPr sz="2000"/>
              <a:t>, </a:t>
            </a:r>
            <a:r>
              <a:rPr sz="2000">
                <a:latin typeface="Courier"/>
              </a:rPr>
              <a:t>final_v2.csv</a:t>
            </a:r>
            <a:r>
              <a:rPr sz="2000"/>
              <a:t>, </a:t>
            </a:r>
            <a:r>
              <a:rPr sz="2000">
                <a:latin typeface="Courier"/>
              </a:rPr>
              <a:t>final_FINAL.csv</a:t>
            </a:r>
            <a:r>
              <a:rPr sz="2000"/>
              <a:t> — this is exactly the mess a project folder with relative paths and clear names is meant to prevent.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Predict what </a:t>
            </a:r>
            <a:r>
              <a:rPr sz="2000">
                <a:latin typeface="Courier"/>
              </a:rPr>
              <a:t>write_csv(pine_wrangled_df, "data/pine_needles_wrangled.csv")</a:t>
            </a:r>
            <a:r>
              <a:rPr sz="2000"/>
              <a:t> does if that file doesn’t exist yet. What if it already does?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Imported the same data from a </a:t>
            </a:r>
            <a:r>
              <a:rPr>
                <a:latin typeface="Courier"/>
              </a:rPr>
              <a:t>.csv</a:t>
            </a:r>
            <a:r>
              <a:rPr/>
              <a:t> </a:t>
            </a:r>
            <a:r>
              <a:rPr b="1"/>
              <a:t>and</a:t>
            </a:r>
            <a:r>
              <a:rPr/>
              <a:t> an </a:t>
            </a:r>
            <a:r>
              <a:rPr>
                <a:latin typeface="Courier"/>
              </a:rPr>
              <a:t>.xlsx</a:t>
            </a:r>
          </a:p>
          <a:p>
            <a:pPr lvl="0"/>
            <a:r>
              <a:rPr/>
              <a:t>Used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and </a:t>
            </a:r>
            <a:r>
              <a:rPr>
                <a:latin typeface="Courier"/>
              </a:rPr>
              <a:t>arrange()</a:t>
            </a:r>
            <a:r>
              <a:rPr/>
              <a:t> — and chained them into a pipeline</a:t>
            </a:r>
          </a:p>
          <a:p>
            <a:pPr lvl="0"/>
            <a:r>
              <a:rPr/>
              <a:t>Converted units and log-transformed a column with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/>
              <a:t>Caught and removed duplicate rows with </a:t>
            </a:r>
            <a:r>
              <a:rPr>
                <a:latin typeface="Courier"/>
              </a:rPr>
              <a:t>distinct()</a:t>
            </a:r>
          </a:p>
          <a:p>
            <a:pPr lvl="0"/>
            <a:r>
              <a:rPr/>
              <a:t>Saved a new file with </a:t>
            </a:r>
            <a:r>
              <a:rPr>
                <a:latin typeface="Courier"/>
              </a:rPr>
              <a:t>write_csv()</a:t>
            </a:r>
            <a:r>
              <a:rPr/>
              <a:t> without touching the raw 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wrangle </a:t>
            </a:r>
            <a:r>
              <a:rPr sz="2000">
                <a:latin typeface="Courier"/>
              </a:rPr>
              <a:t>pine_needles.csv</a:t>
            </a:r>
            <a:r>
              <a:rPr sz="2000"/>
              <a:t> into a new data frame with at least one unit conversion and one log transform, then save it with </a:t>
            </a:r>
            <a:r>
              <a:rPr sz="2000">
                <a:latin typeface="Courier"/>
              </a:rPr>
              <a:t>write_csv()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Module 3</a:t>
            </a:r>
          </a:p>
          <a:p>
            <a:pPr lvl="0"/>
            <a:r>
              <a:rPr sz="2000"/>
              <a:t>Mean, median, variance, SD, SE</a:t>
            </a:r>
          </a:p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length()</a:t>
            </a:r>
            <a:r>
              <a:rPr sz="2000"/>
              <a:t> trap and the </a:t>
            </a:r>
            <a:r>
              <a:rPr sz="2000">
                <a:latin typeface="Courier"/>
              </a:rPr>
              <a:t>sum(!is.na())</a:t>
            </a:r>
            <a:r>
              <a:rPr sz="2000"/>
              <a:t> fix</a:t>
            </a:r>
          </a:p>
          <a:p>
            <a:pPr lvl="0"/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 for tidy group comparisons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 indent="-342900" marL="342900">
              <a:buAutoNum type="arabicPeriod"/>
            </a:pPr>
            <a:r>
              <a:rPr/>
              <a:t>Check the usual suspects: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 loaded?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|&gt;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help page</a:t>
            </a:r>
          </a:p>
          <a:p>
            <a:pPr lvl="0" indent="-342900" marL="342900">
              <a:buAutoNum type="arabicPeriod"/>
            </a:pPr>
            <a:r>
              <a:rPr/>
              <a:t>Bring the </a:t>
            </a:r>
            <a:r>
              <a:rPr b="1"/>
              <a:t>exact error</a:t>
            </a:r>
            <a:r>
              <a:rPr/>
              <a:t>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— Wrangling Your Data</dc:title>
  <dc:creator>Bill Perry</dc:creator>
  <cp:keywords/>
  <dc:description>Reading CSV and Excel files, the filter/select/mutate/arrange verbs, log and unit-conversion transforms, catching duplicate rows, and writing your cleaned data back out — all on the pine needle dataset.</dc:description>
  <dcterms:created xsi:type="dcterms:W3CDTF">2026-08-21T15:06:07Z</dcterms:created>
  <dcterms:modified xsi:type="dcterms:W3CDTF">2026-08-21T15:06:07Z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2</vt:lpwstr>
  </property>
  <property fmtid="{D5CDD505-2E9C-101B-9397-08002B2CF9AE}" pid="12" name="subtitle">
    <vt:lpwstr>Importing more than one way, reshaping columns, and saving what you make</vt:lpwstr>
  </property>
  <property fmtid="{D5CDD505-2E9C-101B-9397-08002B2CF9AE}" pid="13" name="toc-title">
    <vt:lpwstr>Table of contents</vt:lpwstr>
  </property>
  <property fmtid="{D5CDD505-2E9C-101B-9397-08002B2CF9AE}" pid="14" name="week">
    <vt:lpwstr>2</vt:lpwstr>
  </property>
</Properties>
</file>